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700" r:id="rId1"/>
  </p:sldMasterIdLst>
  <p:notesMasterIdLst>
    <p:notesMasterId r:id="rId29"/>
  </p:notesMasterIdLst>
  <p:sldIdLst>
    <p:sldId id="256" r:id="rId2"/>
    <p:sldId id="674" r:id="rId3"/>
    <p:sldId id="714" r:id="rId4"/>
    <p:sldId id="720" r:id="rId5"/>
    <p:sldId id="716" r:id="rId6"/>
    <p:sldId id="676" r:id="rId7"/>
    <p:sldId id="719" r:id="rId8"/>
    <p:sldId id="717" r:id="rId9"/>
    <p:sldId id="718" r:id="rId10"/>
    <p:sldId id="721" r:id="rId11"/>
    <p:sldId id="722" r:id="rId12"/>
    <p:sldId id="724" r:id="rId13"/>
    <p:sldId id="725" r:id="rId14"/>
    <p:sldId id="726" r:id="rId15"/>
    <p:sldId id="727" r:id="rId16"/>
    <p:sldId id="728" r:id="rId17"/>
    <p:sldId id="729" r:id="rId18"/>
    <p:sldId id="730" r:id="rId19"/>
    <p:sldId id="731" r:id="rId20"/>
    <p:sldId id="732" r:id="rId21"/>
    <p:sldId id="733" r:id="rId22"/>
    <p:sldId id="734" r:id="rId23"/>
    <p:sldId id="735" r:id="rId24"/>
    <p:sldId id="737" r:id="rId25"/>
    <p:sldId id="738" r:id="rId26"/>
    <p:sldId id="711" r:id="rId27"/>
    <p:sldId id="30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2F5597"/>
    <a:srgbClr val="8BBCFF"/>
    <a:srgbClr val="333F50"/>
    <a:srgbClr val="8497B0"/>
    <a:srgbClr val="8FAADC"/>
    <a:srgbClr val="626CC7"/>
    <a:srgbClr val="323B8D"/>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3447" autoAdjust="0"/>
  </p:normalViewPr>
  <p:slideViewPr>
    <p:cSldViewPr snapToGrid="0">
      <p:cViewPr varScale="1">
        <p:scale>
          <a:sx n="77" d="100"/>
          <a:sy n="77" d="100"/>
        </p:scale>
        <p:origin x="821" y="62"/>
      </p:cViewPr>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200E50-5E56-43AD-8BF9-10BB90996932}"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IN"/>
        </a:p>
      </dgm:t>
    </dgm:pt>
    <dgm:pt modelId="{5F4E4D77-D29B-4856-8EF1-E817671E8B82}">
      <dgm:prSet/>
      <dgm:spPr/>
      <dgm:t>
        <a:bodyPr/>
        <a:lstStyle/>
        <a:p>
          <a:r>
            <a:rPr lang="en-IN" dirty="0"/>
            <a:t>Step 1: Collecting of Data from Various source</a:t>
          </a:r>
        </a:p>
      </dgm:t>
    </dgm:pt>
    <dgm:pt modelId="{5F67FFB2-4667-4EBA-B926-24D6024F1DA1}" type="parTrans" cxnId="{A827910E-9867-404F-9350-6DDD073559FC}">
      <dgm:prSet/>
      <dgm:spPr/>
      <dgm:t>
        <a:bodyPr/>
        <a:lstStyle/>
        <a:p>
          <a:endParaRPr lang="en-IN"/>
        </a:p>
      </dgm:t>
    </dgm:pt>
    <dgm:pt modelId="{D967F73F-AD50-4D64-9512-DDB55BDF1CCB}" type="sibTrans" cxnId="{A827910E-9867-404F-9350-6DDD073559FC}">
      <dgm:prSet/>
      <dgm:spPr/>
      <dgm:t>
        <a:bodyPr/>
        <a:lstStyle/>
        <a:p>
          <a:endParaRPr lang="en-IN"/>
        </a:p>
      </dgm:t>
    </dgm:pt>
    <dgm:pt modelId="{F5423E00-078F-4C3B-89ED-FF4FC9192A8A}">
      <dgm:prSet/>
      <dgm:spPr/>
      <dgm:t>
        <a:bodyPr/>
        <a:lstStyle/>
        <a:p>
          <a:r>
            <a:rPr lang="en-IN"/>
            <a:t>Step 2:Data cleaning and Feature Engineering</a:t>
          </a:r>
        </a:p>
      </dgm:t>
    </dgm:pt>
    <dgm:pt modelId="{E6CDCCB3-53AA-4AA2-ADD1-517A467D65D8}" type="parTrans" cxnId="{C50CF0D7-6BEF-461F-BDBD-7BC90FFF2EB0}">
      <dgm:prSet/>
      <dgm:spPr/>
      <dgm:t>
        <a:bodyPr/>
        <a:lstStyle/>
        <a:p>
          <a:endParaRPr lang="en-IN"/>
        </a:p>
      </dgm:t>
    </dgm:pt>
    <dgm:pt modelId="{F25EAE1C-AD96-42C0-B71A-E29A6A19BBF9}" type="sibTrans" cxnId="{C50CF0D7-6BEF-461F-BDBD-7BC90FFF2EB0}">
      <dgm:prSet/>
      <dgm:spPr/>
      <dgm:t>
        <a:bodyPr/>
        <a:lstStyle/>
        <a:p>
          <a:endParaRPr lang="en-IN"/>
        </a:p>
      </dgm:t>
    </dgm:pt>
    <dgm:pt modelId="{0057123E-A0DB-490B-9606-49409CB51017}">
      <dgm:prSet/>
      <dgm:spPr/>
      <dgm:t>
        <a:bodyPr/>
        <a:lstStyle/>
        <a:p>
          <a:r>
            <a:rPr lang="en-IN" dirty="0"/>
            <a:t>Step 3: Model building for selecting correct ML Algorithm </a:t>
          </a:r>
        </a:p>
      </dgm:t>
    </dgm:pt>
    <dgm:pt modelId="{CC0F6279-EA0A-45BB-BE46-472A044B9BBD}" type="parTrans" cxnId="{B853988F-B706-46C3-8E70-1B7F91733B25}">
      <dgm:prSet/>
      <dgm:spPr/>
      <dgm:t>
        <a:bodyPr/>
        <a:lstStyle/>
        <a:p>
          <a:endParaRPr lang="en-IN"/>
        </a:p>
      </dgm:t>
    </dgm:pt>
    <dgm:pt modelId="{C147A8E8-2C35-4ED1-AC51-9E7B8AAEE883}" type="sibTrans" cxnId="{B853988F-B706-46C3-8E70-1B7F91733B25}">
      <dgm:prSet/>
      <dgm:spPr/>
      <dgm:t>
        <a:bodyPr/>
        <a:lstStyle/>
        <a:p>
          <a:endParaRPr lang="en-IN"/>
        </a:p>
      </dgm:t>
    </dgm:pt>
    <dgm:pt modelId="{E9C518B0-11B5-4BA5-9058-7E6B84F1CA0A}">
      <dgm:prSet/>
      <dgm:spPr/>
      <dgm:t>
        <a:bodyPr/>
        <a:lstStyle/>
        <a:p>
          <a:r>
            <a:rPr lang="en-IN"/>
            <a:t>Step 4: Evaluate Model</a:t>
          </a:r>
        </a:p>
      </dgm:t>
    </dgm:pt>
    <dgm:pt modelId="{C19136F3-8C70-4848-AB12-4B83EAAF3CA3}" type="parTrans" cxnId="{EE57A287-F2ED-47AE-AF8F-5126F502F630}">
      <dgm:prSet/>
      <dgm:spPr/>
      <dgm:t>
        <a:bodyPr/>
        <a:lstStyle/>
        <a:p>
          <a:endParaRPr lang="en-IN"/>
        </a:p>
      </dgm:t>
    </dgm:pt>
    <dgm:pt modelId="{7DB99E53-972A-4855-B3B2-FD3168ACC71B}" type="sibTrans" cxnId="{EE57A287-F2ED-47AE-AF8F-5126F502F630}">
      <dgm:prSet/>
      <dgm:spPr/>
      <dgm:t>
        <a:bodyPr/>
        <a:lstStyle/>
        <a:p>
          <a:endParaRPr lang="en-IN"/>
        </a:p>
      </dgm:t>
    </dgm:pt>
    <dgm:pt modelId="{004B4B49-6B28-4DEF-9B48-C7D3D85D6E64}">
      <dgm:prSet/>
      <dgm:spPr/>
      <dgm:t>
        <a:bodyPr/>
        <a:lstStyle/>
        <a:p>
          <a:r>
            <a:rPr lang="en-IN" dirty="0"/>
            <a:t>Step 5: Model Deployment</a:t>
          </a:r>
        </a:p>
      </dgm:t>
    </dgm:pt>
    <dgm:pt modelId="{B37EC211-3FC3-4473-9085-B977EF097620}" type="parTrans" cxnId="{5A110DC5-0DF8-4F2C-ACA2-56C47EDF3F7A}">
      <dgm:prSet/>
      <dgm:spPr/>
      <dgm:t>
        <a:bodyPr/>
        <a:lstStyle/>
        <a:p>
          <a:endParaRPr lang="en-IN"/>
        </a:p>
      </dgm:t>
    </dgm:pt>
    <dgm:pt modelId="{0A38B4DA-065F-46EC-8024-3F4245C94A56}" type="sibTrans" cxnId="{5A110DC5-0DF8-4F2C-ACA2-56C47EDF3F7A}">
      <dgm:prSet/>
      <dgm:spPr/>
      <dgm:t>
        <a:bodyPr/>
        <a:lstStyle/>
        <a:p>
          <a:endParaRPr lang="en-IN"/>
        </a:p>
      </dgm:t>
    </dgm:pt>
    <dgm:pt modelId="{424B765B-32F7-4111-BC54-B8F8879A2EC7}" type="pres">
      <dgm:prSet presAssocID="{6B200E50-5E56-43AD-8BF9-10BB90996932}" presName="CompostProcess" presStyleCnt="0">
        <dgm:presLayoutVars>
          <dgm:dir/>
          <dgm:resizeHandles val="exact"/>
        </dgm:presLayoutVars>
      </dgm:prSet>
      <dgm:spPr/>
    </dgm:pt>
    <dgm:pt modelId="{F642E5B2-1E6F-4548-8512-71AE3A744EA7}" type="pres">
      <dgm:prSet presAssocID="{6B200E50-5E56-43AD-8BF9-10BB90996932}" presName="arrow" presStyleLbl="bgShp" presStyleIdx="0" presStyleCnt="1"/>
      <dgm:spPr/>
    </dgm:pt>
    <dgm:pt modelId="{EFE5E1CC-84FF-41EF-9FE8-8F36F59D50E2}" type="pres">
      <dgm:prSet presAssocID="{6B200E50-5E56-43AD-8BF9-10BB90996932}" presName="linearProcess" presStyleCnt="0"/>
      <dgm:spPr/>
    </dgm:pt>
    <dgm:pt modelId="{0A663017-4E26-4F5A-A889-ECB0B27168B0}" type="pres">
      <dgm:prSet presAssocID="{5F4E4D77-D29B-4856-8EF1-E817671E8B82}" presName="textNode" presStyleLbl="node1" presStyleIdx="0" presStyleCnt="5" custScaleY="104758" custLinFactNeighborX="78093" custLinFactNeighborY="4502">
        <dgm:presLayoutVars>
          <dgm:bulletEnabled val="1"/>
        </dgm:presLayoutVars>
      </dgm:prSet>
      <dgm:spPr/>
    </dgm:pt>
    <dgm:pt modelId="{1563D18B-3F13-461D-A1D4-5E3D6AC12277}" type="pres">
      <dgm:prSet presAssocID="{D967F73F-AD50-4D64-9512-DDB55BDF1CCB}" presName="sibTrans" presStyleCnt="0"/>
      <dgm:spPr/>
    </dgm:pt>
    <dgm:pt modelId="{EC9D8421-6BDD-422D-8B48-2C98A6609B05}" type="pres">
      <dgm:prSet presAssocID="{F5423E00-078F-4C3B-89ED-FF4FC9192A8A}" presName="textNode" presStyleLbl="node1" presStyleIdx="1" presStyleCnt="5" custScaleY="107752">
        <dgm:presLayoutVars>
          <dgm:bulletEnabled val="1"/>
        </dgm:presLayoutVars>
      </dgm:prSet>
      <dgm:spPr/>
    </dgm:pt>
    <dgm:pt modelId="{EA5574C6-4837-4E72-93EA-F8C4B27C475E}" type="pres">
      <dgm:prSet presAssocID="{F25EAE1C-AD96-42C0-B71A-E29A6A19BBF9}" presName="sibTrans" presStyleCnt="0"/>
      <dgm:spPr/>
    </dgm:pt>
    <dgm:pt modelId="{595AEDB3-A971-4555-93D7-9CE1A703BAD5}" type="pres">
      <dgm:prSet presAssocID="{0057123E-A0DB-490B-9606-49409CB51017}" presName="textNode" presStyleLbl="node1" presStyleIdx="2" presStyleCnt="5" custScaleY="106255">
        <dgm:presLayoutVars>
          <dgm:bulletEnabled val="1"/>
        </dgm:presLayoutVars>
      </dgm:prSet>
      <dgm:spPr/>
    </dgm:pt>
    <dgm:pt modelId="{6DD0DAD3-D122-4B19-B8C5-E1A274627E26}" type="pres">
      <dgm:prSet presAssocID="{C147A8E8-2C35-4ED1-AC51-9E7B8AAEE883}" presName="sibTrans" presStyleCnt="0"/>
      <dgm:spPr/>
    </dgm:pt>
    <dgm:pt modelId="{3250A54F-C6F2-4250-A633-5C3294E0F9AD}" type="pres">
      <dgm:prSet presAssocID="{E9C518B0-11B5-4BA5-9058-7E6B84F1CA0A}" presName="textNode" presStyleLbl="node1" presStyleIdx="3" presStyleCnt="5" custScaleY="103262">
        <dgm:presLayoutVars>
          <dgm:bulletEnabled val="1"/>
        </dgm:presLayoutVars>
      </dgm:prSet>
      <dgm:spPr/>
    </dgm:pt>
    <dgm:pt modelId="{93915EC1-D64F-4DD6-A4A4-976426F32923}" type="pres">
      <dgm:prSet presAssocID="{7DB99E53-972A-4855-B3B2-FD3168ACC71B}" presName="sibTrans" presStyleCnt="0"/>
      <dgm:spPr/>
    </dgm:pt>
    <dgm:pt modelId="{0166A657-F8BC-4319-819E-F113646B5B6C}" type="pres">
      <dgm:prSet presAssocID="{004B4B49-6B28-4DEF-9B48-C7D3D85D6E64}" presName="textNode" presStyleLbl="node1" presStyleIdx="4" presStyleCnt="5" custScaleY="104758" custLinFactNeighborX="-10084" custLinFactNeighborY="11">
        <dgm:presLayoutVars>
          <dgm:bulletEnabled val="1"/>
        </dgm:presLayoutVars>
      </dgm:prSet>
      <dgm:spPr/>
    </dgm:pt>
  </dgm:ptLst>
  <dgm:cxnLst>
    <dgm:cxn modelId="{A827910E-9867-404F-9350-6DDD073559FC}" srcId="{6B200E50-5E56-43AD-8BF9-10BB90996932}" destId="{5F4E4D77-D29B-4856-8EF1-E817671E8B82}" srcOrd="0" destOrd="0" parTransId="{5F67FFB2-4667-4EBA-B926-24D6024F1DA1}" sibTransId="{D967F73F-AD50-4D64-9512-DDB55BDF1CCB}"/>
    <dgm:cxn modelId="{5DB9A413-5756-469B-A28E-554E1829E45C}" type="presOf" srcId="{6B200E50-5E56-43AD-8BF9-10BB90996932}" destId="{424B765B-32F7-4111-BC54-B8F8879A2EC7}" srcOrd="0" destOrd="0" presId="urn:microsoft.com/office/officeart/2005/8/layout/hProcess9"/>
    <dgm:cxn modelId="{CE39F023-22E7-4EC8-BC63-977D3EBDAEBF}" type="presOf" srcId="{0057123E-A0DB-490B-9606-49409CB51017}" destId="{595AEDB3-A971-4555-93D7-9CE1A703BAD5}" srcOrd="0" destOrd="0" presId="urn:microsoft.com/office/officeart/2005/8/layout/hProcess9"/>
    <dgm:cxn modelId="{00EFA234-49FC-4C75-ABBB-4BC684954A37}" type="presOf" srcId="{F5423E00-078F-4C3B-89ED-FF4FC9192A8A}" destId="{EC9D8421-6BDD-422D-8B48-2C98A6609B05}" srcOrd="0" destOrd="0" presId="urn:microsoft.com/office/officeart/2005/8/layout/hProcess9"/>
    <dgm:cxn modelId="{BBB2B75E-F9A4-4262-9DA0-2C3EFCCDA7FE}" type="presOf" srcId="{5F4E4D77-D29B-4856-8EF1-E817671E8B82}" destId="{0A663017-4E26-4F5A-A889-ECB0B27168B0}" srcOrd="0" destOrd="0" presId="urn:microsoft.com/office/officeart/2005/8/layout/hProcess9"/>
    <dgm:cxn modelId="{50FC0D66-F95F-4A8C-9FD3-1733ABBE0620}" type="presOf" srcId="{E9C518B0-11B5-4BA5-9058-7E6B84F1CA0A}" destId="{3250A54F-C6F2-4250-A633-5C3294E0F9AD}" srcOrd="0" destOrd="0" presId="urn:microsoft.com/office/officeart/2005/8/layout/hProcess9"/>
    <dgm:cxn modelId="{EE57A287-F2ED-47AE-AF8F-5126F502F630}" srcId="{6B200E50-5E56-43AD-8BF9-10BB90996932}" destId="{E9C518B0-11B5-4BA5-9058-7E6B84F1CA0A}" srcOrd="3" destOrd="0" parTransId="{C19136F3-8C70-4848-AB12-4B83EAAF3CA3}" sibTransId="{7DB99E53-972A-4855-B3B2-FD3168ACC71B}"/>
    <dgm:cxn modelId="{B853988F-B706-46C3-8E70-1B7F91733B25}" srcId="{6B200E50-5E56-43AD-8BF9-10BB90996932}" destId="{0057123E-A0DB-490B-9606-49409CB51017}" srcOrd="2" destOrd="0" parTransId="{CC0F6279-EA0A-45BB-BE46-472A044B9BBD}" sibTransId="{C147A8E8-2C35-4ED1-AC51-9E7B8AAEE883}"/>
    <dgm:cxn modelId="{8FAF6992-62DC-40F7-ABFB-A16E81B72A06}" type="presOf" srcId="{004B4B49-6B28-4DEF-9B48-C7D3D85D6E64}" destId="{0166A657-F8BC-4319-819E-F113646B5B6C}" srcOrd="0" destOrd="0" presId="urn:microsoft.com/office/officeart/2005/8/layout/hProcess9"/>
    <dgm:cxn modelId="{5A110DC5-0DF8-4F2C-ACA2-56C47EDF3F7A}" srcId="{6B200E50-5E56-43AD-8BF9-10BB90996932}" destId="{004B4B49-6B28-4DEF-9B48-C7D3D85D6E64}" srcOrd="4" destOrd="0" parTransId="{B37EC211-3FC3-4473-9085-B977EF097620}" sibTransId="{0A38B4DA-065F-46EC-8024-3F4245C94A56}"/>
    <dgm:cxn modelId="{C50CF0D7-6BEF-461F-BDBD-7BC90FFF2EB0}" srcId="{6B200E50-5E56-43AD-8BF9-10BB90996932}" destId="{F5423E00-078F-4C3B-89ED-FF4FC9192A8A}" srcOrd="1" destOrd="0" parTransId="{E6CDCCB3-53AA-4AA2-ADD1-517A467D65D8}" sibTransId="{F25EAE1C-AD96-42C0-B71A-E29A6A19BBF9}"/>
    <dgm:cxn modelId="{163AC4E1-C3AD-417A-ABA9-2869E1492DBC}" type="presParOf" srcId="{424B765B-32F7-4111-BC54-B8F8879A2EC7}" destId="{F642E5B2-1E6F-4548-8512-71AE3A744EA7}" srcOrd="0" destOrd="0" presId="urn:microsoft.com/office/officeart/2005/8/layout/hProcess9"/>
    <dgm:cxn modelId="{8AB7476B-A2D0-4B06-8782-E004F8E1B48E}" type="presParOf" srcId="{424B765B-32F7-4111-BC54-B8F8879A2EC7}" destId="{EFE5E1CC-84FF-41EF-9FE8-8F36F59D50E2}" srcOrd="1" destOrd="0" presId="urn:microsoft.com/office/officeart/2005/8/layout/hProcess9"/>
    <dgm:cxn modelId="{5794F2AA-6557-4E89-B7DE-A6EB09A6645C}" type="presParOf" srcId="{EFE5E1CC-84FF-41EF-9FE8-8F36F59D50E2}" destId="{0A663017-4E26-4F5A-A889-ECB0B27168B0}" srcOrd="0" destOrd="0" presId="urn:microsoft.com/office/officeart/2005/8/layout/hProcess9"/>
    <dgm:cxn modelId="{29B6F6E9-2C98-4928-BAC8-95F392470115}" type="presParOf" srcId="{EFE5E1CC-84FF-41EF-9FE8-8F36F59D50E2}" destId="{1563D18B-3F13-461D-A1D4-5E3D6AC12277}" srcOrd="1" destOrd="0" presId="urn:microsoft.com/office/officeart/2005/8/layout/hProcess9"/>
    <dgm:cxn modelId="{275CAD99-E112-4E76-8FEC-A86611EE143C}" type="presParOf" srcId="{EFE5E1CC-84FF-41EF-9FE8-8F36F59D50E2}" destId="{EC9D8421-6BDD-422D-8B48-2C98A6609B05}" srcOrd="2" destOrd="0" presId="urn:microsoft.com/office/officeart/2005/8/layout/hProcess9"/>
    <dgm:cxn modelId="{35B1BD66-0F85-4854-92D2-F21B4D25AD4A}" type="presParOf" srcId="{EFE5E1CC-84FF-41EF-9FE8-8F36F59D50E2}" destId="{EA5574C6-4837-4E72-93EA-F8C4B27C475E}" srcOrd="3" destOrd="0" presId="urn:microsoft.com/office/officeart/2005/8/layout/hProcess9"/>
    <dgm:cxn modelId="{75A334BE-D450-4884-A94B-3EE1874CE51C}" type="presParOf" srcId="{EFE5E1CC-84FF-41EF-9FE8-8F36F59D50E2}" destId="{595AEDB3-A971-4555-93D7-9CE1A703BAD5}" srcOrd="4" destOrd="0" presId="urn:microsoft.com/office/officeart/2005/8/layout/hProcess9"/>
    <dgm:cxn modelId="{9D5B511D-12DA-44A5-80AE-88C6EA1AB8D4}" type="presParOf" srcId="{EFE5E1CC-84FF-41EF-9FE8-8F36F59D50E2}" destId="{6DD0DAD3-D122-4B19-B8C5-E1A274627E26}" srcOrd="5" destOrd="0" presId="urn:microsoft.com/office/officeart/2005/8/layout/hProcess9"/>
    <dgm:cxn modelId="{CC9FE038-6197-4AC5-B2F3-92F05F94B6DF}" type="presParOf" srcId="{EFE5E1CC-84FF-41EF-9FE8-8F36F59D50E2}" destId="{3250A54F-C6F2-4250-A633-5C3294E0F9AD}" srcOrd="6" destOrd="0" presId="urn:microsoft.com/office/officeart/2005/8/layout/hProcess9"/>
    <dgm:cxn modelId="{43E74567-07F2-420B-B7EC-41C6706E906B}" type="presParOf" srcId="{EFE5E1CC-84FF-41EF-9FE8-8F36F59D50E2}" destId="{93915EC1-D64F-4DD6-A4A4-976426F32923}" srcOrd="7" destOrd="0" presId="urn:microsoft.com/office/officeart/2005/8/layout/hProcess9"/>
    <dgm:cxn modelId="{804EEA82-7DB2-487C-88D8-01BDA8EDBF35}" type="presParOf" srcId="{EFE5E1CC-84FF-41EF-9FE8-8F36F59D50E2}" destId="{0166A657-F8BC-4319-819E-F113646B5B6C}"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42E5B2-1E6F-4548-8512-71AE3A744EA7}">
      <dsp:nvSpPr>
        <dsp:cNvPr id="0" name=""/>
        <dsp:cNvSpPr/>
      </dsp:nvSpPr>
      <dsp:spPr>
        <a:xfrm>
          <a:off x="529338" y="0"/>
          <a:ext cx="5999169" cy="545423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663017-4E26-4F5A-A889-ECB0B27168B0}">
      <dsp:nvSpPr>
        <dsp:cNvPr id="0" name=""/>
        <dsp:cNvSpPr/>
      </dsp:nvSpPr>
      <dsp:spPr>
        <a:xfrm>
          <a:off x="56051" y="1682587"/>
          <a:ext cx="1356085" cy="22854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dirty="0"/>
            <a:t>Step 1: Collecting of Data from Various source</a:t>
          </a:r>
        </a:p>
      </dsp:txBody>
      <dsp:txXfrm>
        <a:off x="122250" y="1748786"/>
        <a:ext cx="1223687" cy="2153101"/>
      </dsp:txXfrm>
    </dsp:sp>
    <dsp:sp modelId="{EC9D8421-6BDD-422D-8B48-2C98A6609B05}">
      <dsp:nvSpPr>
        <dsp:cNvPr id="0" name=""/>
        <dsp:cNvSpPr/>
      </dsp:nvSpPr>
      <dsp:spPr>
        <a:xfrm>
          <a:off x="1426991" y="1551708"/>
          <a:ext cx="1356085" cy="23508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Step 2:Data cleaning and Feature Engineering</a:t>
          </a:r>
        </a:p>
      </dsp:txBody>
      <dsp:txXfrm>
        <a:off x="1493190" y="1617907"/>
        <a:ext cx="1223687" cy="2218420"/>
      </dsp:txXfrm>
    </dsp:sp>
    <dsp:sp modelId="{595AEDB3-A971-4555-93D7-9CE1A703BAD5}">
      <dsp:nvSpPr>
        <dsp:cNvPr id="0" name=""/>
        <dsp:cNvSpPr/>
      </dsp:nvSpPr>
      <dsp:spPr>
        <a:xfrm>
          <a:off x="2850880" y="1568038"/>
          <a:ext cx="1356085" cy="231815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dirty="0"/>
            <a:t>Step 3: Model building for selecting correct ML Algorithm </a:t>
          </a:r>
        </a:p>
      </dsp:txBody>
      <dsp:txXfrm>
        <a:off x="2917079" y="1634237"/>
        <a:ext cx="1223687" cy="2185760"/>
      </dsp:txXfrm>
    </dsp:sp>
    <dsp:sp modelId="{3250A54F-C6F2-4250-A633-5C3294E0F9AD}">
      <dsp:nvSpPr>
        <dsp:cNvPr id="0" name=""/>
        <dsp:cNvSpPr/>
      </dsp:nvSpPr>
      <dsp:spPr>
        <a:xfrm>
          <a:off x="4274770" y="1600687"/>
          <a:ext cx="1356085" cy="2252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Step 4: Evaluate Model</a:t>
          </a:r>
        </a:p>
      </dsp:txBody>
      <dsp:txXfrm>
        <a:off x="4340969" y="1666886"/>
        <a:ext cx="1223687" cy="2120462"/>
      </dsp:txXfrm>
    </dsp:sp>
    <dsp:sp modelId="{0166A657-F8BC-4319-819E-F113646B5B6C}">
      <dsp:nvSpPr>
        <dsp:cNvPr id="0" name=""/>
        <dsp:cNvSpPr/>
      </dsp:nvSpPr>
      <dsp:spPr>
        <a:xfrm>
          <a:off x="5691822" y="1584607"/>
          <a:ext cx="1356085" cy="22854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dirty="0"/>
            <a:t>Step 5: Model Deployment</a:t>
          </a:r>
        </a:p>
      </dsp:txBody>
      <dsp:txXfrm>
        <a:off x="5758021" y="1650806"/>
        <a:ext cx="1223687" cy="215310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2:44:48.867"/>
    </inkml:context>
    <inkml:brush xml:id="br0">
      <inkml:brushProperty name="width" value="0.035" units="cm"/>
      <inkml:brushProperty name="height" value="0.035" units="cm"/>
      <inkml:brushProperty name="color" value="#F68A9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13-06-2025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a:t>
            </a:fld>
            <a:endParaRPr lang="en-IN" dirty="0"/>
          </a:p>
        </p:txBody>
      </p:sp>
    </p:spTree>
    <p:extLst>
      <p:ext uri="{BB962C8B-B14F-4D97-AF65-F5344CB8AC3E}">
        <p14:creationId xmlns:p14="http://schemas.microsoft.com/office/powerpoint/2010/main" val="2301269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2</a:t>
            </a:fld>
            <a:endParaRPr lang="en-IN" dirty="0"/>
          </a:p>
        </p:txBody>
      </p:sp>
    </p:spTree>
    <p:extLst>
      <p:ext uri="{BB962C8B-B14F-4D97-AF65-F5344CB8AC3E}">
        <p14:creationId xmlns:p14="http://schemas.microsoft.com/office/powerpoint/2010/main" val="88835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3</a:t>
            </a:fld>
            <a:endParaRPr lang="en-IN" dirty="0"/>
          </a:p>
        </p:txBody>
      </p:sp>
    </p:spTree>
    <p:extLst>
      <p:ext uri="{BB962C8B-B14F-4D97-AF65-F5344CB8AC3E}">
        <p14:creationId xmlns:p14="http://schemas.microsoft.com/office/powerpoint/2010/main" val="1958379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PURCHASES_FREQUENCY:Lower</a:t>
            </a:r>
            <a:r>
              <a:rPr lang="en-IN" dirty="0"/>
              <a:t> than general purchase frequency – most customers prefer regular over one-time usage.PURCHASES_INSTALLMENTS_FREQUENCY:Again, lower compared to other frequency features – installment shopping is less common.✅ 3. CASH ADVANCE-RELATED FEATURESCASH_ADVANCE &amp; </a:t>
            </a:r>
            <a:r>
              <a:rPr lang="en-IN" dirty="0" err="1"/>
              <a:t>CASH_ADVANCE_TRX:Most</a:t>
            </a:r>
            <a:r>
              <a:rPr lang="en-IN" dirty="0"/>
              <a:t> customers avoid cash advances, with very few having high </a:t>
            </a:r>
            <a:r>
              <a:rPr lang="en-IN" dirty="0" err="1"/>
              <a:t>usage.CASH_ADVANCE_FREQUENCY</a:t>
            </a:r>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10</a:t>
            </a:fld>
            <a:endParaRPr lang="en-IN" dirty="0"/>
          </a:p>
        </p:txBody>
      </p:sp>
    </p:spTree>
    <p:extLst>
      <p:ext uri="{BB962C8B-B14F-4D97-AF65-F5344CB8AC3E}">
        <p14:creationId xmlns:p14="http://schemas.microsoft.com/office/powerpoint/2010/main" val="2551981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dirty="0"/>
          </a:p>
        </p:txBody>
      </p:sp>
    </p:spTree>
    <p:extLst>
      <p:ext uri="{BB962C8B-B14F-4D97-AF65-F5344CB8AC3E}">
        <p14:creationId xmlns:p14="http://schemas.microsoft.com/office/powerpoint/2010/main" val="2857655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2FC3F-6641-AE59-95E8-F348D69BB4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3F3DB22-51D5-D3F9-CD1F-572DB2E401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AABB4E8-AE8A-743F-C885-50EE97FCE93C}"/>
              </a:ext>
            </a:extLst>
          </p:cNvPr>
          <p:cNvSpPr>
            <a:spLocks noGrp="1"/>
          </p:cNvSpPr>
          <p:nvPr>
            <p:ph type="dt" sz="half" idx="10"/>
          </p:nvPr>
        </p:nvSpPr>
        <p:spPr/>
        <p:txBody>
          <a:bodyPr/>
          <a:lstStyle/>
          <a:p>
            <a:fld id="{48A87A34-81AB-432B-8DAE-1953F412C126}" type="datetimeFigureOut">
              <a:rPr lang="en-US" smtClean="0"/>
              <a:t>6/13/2025</a:t>
            </a:fld>
            <a:endParaRPr lang="en-US" dirty="0"/>
          </a:p>
        </p:txBody>
      </p:sp>
      <p:sp>
        <p:nvSpPr>
          <p:cNvPr id="5" name="Footer Placeholder 4">
            <a:extLst>
              <a:ext uri="{FF2B5EF4-FFF2-40B4-BE49-F238E27FC236}">
                <a16:creationId xmlns:a16="http://schemas.microsoft.com/office/drawing/2014/main" id="{C8A54F28-F14E-DEBE-5D28-8BA22AFE373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E5FE69E-A1A5-1FAC-977D-B17183FE8792}"/>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76035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DD53B-6321-B26E-4B0C-1F52144B36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12C00F-37DA-1835-96A1-D44BF87C28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8695F7-8495-780D-6E0D-D5EC8F3D3090}"/>
              </a:ext>
            </a:extLst>
          </p:cNvPr>
          <p:cNvSpPr>
            <a:spLocks noGrp="1"/>
          </p:cNvSpPr>
          <p:nvPr>
            <p:ph type="dt" sz="half" idx="10"/>
          </p:nvPr>
        </p:nvSpPr>
        <p:spPr/>
        <p:txBody>
          <a:bodyPr/>
          <a:lstStyle/>
          <a:p>
            <a:fld id="{48A87A34-81AB-432B-8DAE-1953F412C126}" type="datetimeFigureOut">
              <a:rPr lang="en-US" smtClean="0"/>
              <a:t>6/13/2025</a:t>
            </a:fld>
            <a:endParaRPr lang="en-US" dirty="0"/>
          </a:p>
        </p:txBody>
      </p:sp>
      <p:sp>
        <p:nvSpPr>
          <p:cNvPr id="5" name="Footer Placeholder 4">
            <a:extLst>
              <a:ext uri="{FF2B5EF4-FFF2-40B4-BE49-F238E27FC236}">
                <a16:creationId xmlns:a16="http://schemas.microsoft.com/office/drawing/2014/main" id="{2D4B39FC-1F07-0881-3059-1AE3981A52D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CE941C-85AB-C404-7B04-1E075BB5756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31896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3AF31-2CF5-4039-C97D-3192669413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E46CC6-1BAF-F92E-15D1-3E06A4E29D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D831AD-034B-84FE-169D-F38B0DE5FF99}"/>
              </a:ext>
            </a:extLst>
          </p:cNvPr>
          <p:cNvSpPr>
            <a:spLocks noGrp="1"/>
          </p:cNvSpPr>
          <p:nvPr>
            <p:ph type="dt" sz="half" idx="10"/>
          </p:nvPr>
        </p:nvSpPr>
        <p:spPr/>
        <p:txBody>
          <a:bodyPr/>
          <a:lstStyle/>
          <a:p>
            <a:fld id="{48A87A34-81AB-432B-8DAE-1953F412C126}" type="datetimeFigureOut">
              <a:rPr lang="en-US" smtClean="0"/>
              <a:t>6/13/2025</a:t>
            </a:fld>
            <a:endParaRPr lang="en-US" dirty="0"/>
          </a:p>
        </p:txBody>
      </p:sp>
      <p:sp>
        <p:nvSpPr>
          <p:cNvPr id="5" name="Footer Placeholder 4">
            <a:extLst>
              <a:ext uri="{FF2B5EF4-FFF2-40B4-BE49-F238E27FC236}">
                <a16:creationId xmlns:a16="http://schemas.microsoft.com/office/drawing/2014/main" id="{ED040846-3B1F-701B-B19F-03B59FE609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8888E71-166F-6435-E048-C6E122E91B36}"/>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83165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F2448-AA1C-A7CB-89A2-569EB4442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48A62F-C105-DE88-FE03-05CC45F631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74F146-8385-A054-F96C-D57E46AFC9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713CB3-A9D5-2C8B-3FF1-6A04BCA26FFB}"/>
              </a:ext>
            </a:extLst>
          </p:cNvPr>
          <p:cNvSpPr>
            <a:spLocks noGrp="1"/>
          </p:cNvSpPr>
          <p:nvPr>
            <p:ph type="dt" sz="half" idx="10"/>
          </p:nvPr>
        </p:nvSpPr>
        <p:spPr/>
        <p:txBody>
          <a:bodyPr/>
          <a:lstStyle/>
          <a:p>
            <a:fld id="{48A87A34-81AB-432B-8DAE-1953F412C126}" type="datetimeFigureOut">
              <a:rPr lang="en-US" smtClean="0"/>
              <a:t>6/13/2025</a:t>
            </a:fld>
            <a:endParaRPr lang="en-US" dirty="0"/>
          </a:p>
        </p:txBody>
      </p:sp>
      <p:sp>
        <p:nvSpPr>
          <p:cNvPr id="6" name="Footer Placeholder 5">
            <a:extLst>
              <a:ext uri="{FF2B5EF4-FFF2-40B4-BE49-F238E27FC236}">
                <a16:creationId xmlns:a16="http://schemas.microsoft.com/office/drawing/2014/main" id="{870D48CB-D5E3-80EC-AA0B-C76B36DBFE9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F70D140-C703-0CFF-B11B-5C2817BB1EAC}"/>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9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892CF-8247-BD71-6FAD-0EB8F9D7958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605FA4-EC73-5F88-923E-7923CAC75B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8012A5-402B-5909-A657-19A2661537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6CF52F2-5536-1911-B2CD-E1B61534A9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AAD5A6-E940-3D0C-7438-8DB287C471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4998765-FFBB-4736-0F8C-DC4A42B85E20}"/>
              </a:ext>
            </a:extLst>
          </p:cNvPr>
          <p:cNvSpPr>
            <a:spLocks noGrp="1"/>
          </p:cNvSpPr>
          <p:nvPr>
            <p:ph type="dt" sz="half" idx="10"/>
          </p:nvPr>
        </p:nvSpPr>
        <p:spPr/>
        <p:txBody>
          <a:bodyPr/>
          <a:lstStyle/>
          <a:p>
            <a:fld id="{48A87A34-81AB-432B-8DAE-1953F412C126}" type="datetimeFigureOut">
              <a:rPr lang="en-US" smtClean="0"/>
              <a:t>6/13/2025</a:t>
            </a:fld>
            <a:endParaRPr lang="en-US" dirty="0"/>
          </a:p>
        </p:txBody>
      </p:sp>
      <p:sp>
        <p:nvSpPr>
          <p:cNvPr id="8" name="Footer Placeholder 7">
            <a:extLst>
              <a:ext uri="{FF2B5EF4-FFF2-40B4-BE49-F238E27FC236}">
                <a16:creationId xmlns:a16="http://schemas.microsoft.com/office/drawing/2014/main" id="{2CB16F10-9147-57A3-B75E-527B925BF1D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726ED52-099C-DFBA-67C0-DB35630D01F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28464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8A455-3CA2-EEAC-5532-5842764F59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392E4ED-E3D8-5BD6-9563-AB953C1DD3DF}"/>
              </a:ext>
            </a:extLst>
          </p:cNvPr>
          <p:cNvSpPr>
            <a:spLocks noGrp="1"/>
          </p:cNvSpPr>
          <p:nvPr>
            <p:ph type="dt" sz="half" idx="10"/>
          </p:nvPr>
        </p:nvSpPr>
        <p:spPr/>
        <p:txBody>
          <a:bodyPr/>
          <a:lstStyle/>
          <a:p>
            <a:fld id="{48A87A34-81AB-432B-8DAE-1953F412C126}" type="datetimeFigureOut">
              <a:rPr lang="en-US" smtClean="0"/>
              <a:t>6/13/2025</a:t>
            </a:fld>
            <a:endParaRPr lang="en-US" dirty="0"/>
          </a:p>
        </p:txBody>
      </p:sp>
      <p:sp>
        <p:nvSpPr>
          <p:cNvPr id="4" name="Footer Placeholder 3">
            <a:extLst>
              <a:ext uri="{FF2B5EF4-FFF2-40B4-BE49-F238E27FC236}">
                <a16:creationId xmlns:a16="http://schemas.microsoft.com/office/drawing/2014/main" id="{40780A17-5547-905A-DC02-F718ED5FCF5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260C85F-3E78-81FA-E2A4-B7BE6E3DA8E2}"/>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06266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8267FC-1DC7-95CB-D71A-DF46C4910B5D}"/>
              </a:ext>
            </a:extLst>
          </p:cNvPr>
          <p:cNvSpPr>
            <a:spLocks noGrp="1"/>
          </p:cNvSpPr>
          <p:nvPr>
            <p:ph type="dt" sz="half" idx="10"/>
          </p:nvPr>
        </p:nvSpPr>
        <p:spPr/>
        <p:txBody>
          <a:bodyPr/>
          <a:lstStyle/>
          <a:p>
            <a:fld id="{48A87A34-81AB-432B-8DAE-1953F412C126}" type="datetimeFigureOut">
              <a:rPr lang="en-US" smtClean="0"/>
              <a:t>6/13/2025</a:t>
            </a:fld>
            <a:endParaRPr lang="en-US" dirty="0"/>
          </a:p>
        </p:txBody>
      </p:sp>
      <p:sp>
        <p:nvSpPr>
          <p:cNvPr id="3" name="Footer Placeholder 2">
            <a:extLst>
              <a:ext uri="{FF2B5EF4-FFF2-40B4-BE49-F238E27FC236}">
                <a16:creationId xmlns:a16="http://schemas.microsoft.com/office/drawing/2014/main" id="{D204729B-6C24-74B5-24DB-1FD80EC4CD4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F24150D-E23D-39A4-09C2-F71CD700A311}"/>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14133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39E5D-B8B0-BABC-8DB7-2536F15B68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3127D02-6396-92CA-2D27-8C2CE86120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A54C98-CD9E-BE5A-E4A7-7F5480D5FD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D89D82-1C64-07E1-36C1-D6848955EBA4}"/>
              </a:ext>
            </a:extLst>
          </p:cNvPr>
          <p:cNvSpPr>
            <a:spLocks noGrp="1"/>
          </p:cNvSpPr>
          <p:nvPr>
            <p:ph type="dt" sz="half" idx="10"/>
          </p:nvPr>
        </p:nvSpPr>
        <p:spPr/>
        <p:txBody>
          <a:bodyPr/>
          <a:lstStyle/>
          <a:p>
            <a:fld id="{48A87A34-81AB-432B-8DAE-1953F412C126}" type="datetimeFigureOut">
              <a:rPr lang="en-US" smtClean="0"/>
              <a:t>6/13/2025</a:t>
            </a:fld>
            <a:endParaRPr lang="en-US" dirty="0"/>
          </a:p>
        </p:txBody>
      </p:sp>
      <p:sp>
        <p:nvSpPr>
          <p:cNvPr id="6" name="Footer Placeholder 5">
            <a:extLst>
              <a:ext uri="{FF2B5EF4-FFF2-40B4-BE49-F238E27FC236}">
                <a16:creationId xmlns:a16="http://schemas.microsoft.com/office/drawing/2014/main" id="{89F39939-2A2D-C8C9-325D-0CD867CA8A3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D94DFE5-04D6-CBE9-045F-D8D5495E41D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92559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0D4D6-D765-91A9-8EFB-F230545A9E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84AE26F-C124-9788-45FA-1610A0B42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DC04D07-5267-8220-4FE6-CCF55C1FEB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A819FB-DBF6-390E-48F5-D6BA3CBFE08B}"/>
              </a:ext>
            </a:extLst>
          </p:cNvPr>
          <p:cNvSpPr>
            <a:spLocks noGrp="1"/>
          </p:cNvSpPr>
          <p:nvPr>
            <p:ph type="dt" sz="half" idx="10"/>
          </p:nvPr>
        </p:nvSpPr>
        <p:spPr/>
        <p:txBody>
          <a:bodyPr/>
          <a:lstStyle/>
          <a:p>
            <a:fld id="{48A87A34-81AB-432B-8DAE-1953F412C126}" type="datetimeFigureOut">
              <a:rPr lang="en-US" smtClean="0"/>
              <a:t>6/13/2025</a:t>
            </a:fld>
            <a:endParaRPr lang="en-US" dirty="0"/>
          </a:p>
        </p:txBody>
      </p:sp>
      <p:sp>
        <p:nvSpPr>
          <p:cNvPr id="6" name="Footer Placeholder 5">
            <a:extLst>
              <a:ext uri="{FF2B5EF4-FFF2-40B4-BE49-F238E27FC236}">
                <a16:creationId xmlns:a16="http://schemas.microsoft.com/office/drawing/2014/main" id="{4A8DA41A-3CF5-BE02-F233-5868CAE60EC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3A1DB2A-CA62-95E3-74B8-E77F6ADDDBB9}"/>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0326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4434-84ED-7DC3-58B3-3D6BB8E6F2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348DCC-F708-58B8-4A98-C358201892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33B77-39B0-0CA6-2689-C7A0D9A2485E}"/>
              </a:ext>
            </a:extLst>
          </p:cNvPr>
          <p:cNvSpPr>
            <a:spLocks noGrp="1"/>
          </p:cNvSpPr>
          <p:nvPr>
            <p:ph type="dt" sz="half" idx="10"/>
          </p:nvPr>
        </p:nvSpPr>
        <p:spPr/>
        <p:txBody>
          <a:bodyPr/>
          <a:lstStyle/>
          <a:p>
            <a:fld id="{48A87A34-81AB-432B-8DAE-1953F412C126}" type="datetimeFigureOut">
              <a:rPr lang="en-US" smtClean="0"/>
              <a:t>6/13/2025</a:t>
            </a:fld>
            <a:endParaRPr lang="en-US" dirty="0"/>
          </a:p>
        </p:txBody>
      </p:sp>
      <p:sp>
        <p:nvSpPr>
          <p:cNvPr id="5" name="Footer Placeholder 4">
            <a:extLst>
              <a:ext uri="{FF2B5EF4-FFF2-40B4-BE49-F238E27FC236}">
                <a16:creationId xmlns:a16="http://schemas.microsoft.com/office/drawing/2014/main" id="{5DDAB8E6-20C8-4878-4256-120D811ED1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5791519-AE48-43A3-A5E4-B1BE22BFBE1A}"/>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00662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9B20D2-123E-6F81-93E2-3122B3F651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5FF95A-E9DD-6D67-C562-3C203A698D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F9DD59-3C58-A07C-43F1-8F92C578E675}"/>
              </a:ext>
            </a:extLst>
          </p:cNvPr>
          <p:cNvSpPr>
            <a:spLocks noGrp="1"/>
          </p:cNvSpPr>
          <p:nvPr>
            <p:ph type="dt" sz="half" idx="10"/>
          </p:nvPr>
        </p:nvSpPr>
        <p:spPr/>
        <p:txBody>
          <a:bodyPr/>
          <a:lstStyle/>
          <a:p>
            <a:fld id="{48A87A34-81AB-432B-8DAE-1953F412C126}" type="datetimeFigureOut">
              <a:rPr lang="en-US" smtClean="0"/>
              <a:t>6/13/2025</a:t>
            </a:fld>
            <a:endParaRPr lang="en-US" dirty="0"/>
          </a:p>
        </p:txBody>
      </p:sp>
      <p:sp>
        <p:nvSpPr>
          <p:cNvPr id="5" name="Footer Placeholder 4">
            <a:extLst>
              <a:ext uri="{FF2B5EF4-FFF2-40B4-BE49-F238E27FC236}">
                <a16:creationId xmlns:a16="http://schemas.microsoft.com/office/drawing/2014/main" id="{D836319A-2CA5-2165-AD4B-ADB9114B532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3C96D3-299B-60F6-C70A-C779765348FD}"/>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668126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2480011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38504840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649C7F-A8B3-23CE-6EE3-C1A258F66A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26328F-AA37-250B-CD4B-FFDF52D2A1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4DFDCE-9587-383E-B0D9-FFDE0787E5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6/13/2025</a:t>
            </a:fld>
            <a:endParaRPr lang="en-US" dirty="0"/>
          </a:p>
        </p:txBody>
      </p:sp>
      <p:sp>
        <p:nvSpPr>
          <p:cNvPr id="5" name="Footer Placeholder 4">
            <a:extLst>
              <a:ext uri="{FF2B5EF4-FFF2-40B4-BE49-F238E27FC236}">
                <a16:creationId xmlns:a16="http://schemas.microsoft.com/office/drawing/2014/main" id="{CE0A816A-EE0A-FB4B-C789-D64D185B2E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9A4B754-785D-8577-9E79-43656721BE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pic>
        <p:nvPicPr>
          <p:cNvPr id="7" name="Picture 4" descr="Top Ranked Data Science Institute, Classroom Plus Online Training | Boston  Institute of Analytics">
            <a:extLst>
              <a:ext uri="{FF2B5EF4-FFF2-40B4-BE49-F238E27FC236}">
                <a16:creationId xmlns:a16="http://schemas.microsoft.com/office/drawing/2014/main" id="{E7567961-E907-80F2-03C3-FA18DB17ABB1}"/>
              </a:ext>
            </a:extLst>
          </p:cNvPr>
          <p:cNvPicPr>
            <a:picLocks noChangeAspect="1" noChangeArrowheads="1"/>
          </p:cNvPicPr>
          <p:nvPr userDrawn="1"/>
        </p:nvPicPr>
        <p:blipFill rotWithShape="1">
          <a:blip r:embed="rId26"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549EE0C5-F621-0D09-41FA-6BF985CA86B8}"/>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211800136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5" r:id="rId13"/>
    <p:sldLayoutId id="2147483662" r:id="rId14"/>
    <p:sldLayoutId id="2147483672" r:id="rId15"/>
    <p:sldLayoutId id="2147483673" r:id="rId16"/>
    <p:sldLayoutId id="2147483677" r:id="rId17"/>
    <p:sldLayoutId id="2147483676" r:id="rId18"/>
    <p:sldLayoutId id="2147483663" r:id="rId19"/>
    <p:sldLayoutId id="2147483664" r:id="rId20"/>
    <p:sldLayoutId id="2147483665" r:id="rId21"/>
    <p:sldLayoutId id="2147483666" r:id="rId22"/>
    <p:sldLayoutId id="2147483668" r:id="rId23"/>
    <p:sldLayoutId id="2147483670"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pexels.com/photo/atm-atm-card-card-credit-card-371066/"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286001"/>
            <a:ext cx="12192000" cy="28085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Bookman Old Style" panose="02050604050505020204" pitchFamily="18" charset="0"/>
              </a:rPr>
              <a:t>Capstone Project</a:t>
            </a:r>
          </a:p>
          <a:p>
            <a:pPr algn="ctr"/>
            <a:endParaRPr lang="en-US" sz="4400" b="1" dirty="0">
              <a:latin typeface="Calibri" panose="020F0502020204030204" pitchFamily="34" charset="0"/>
            </a:endParaRPr>
          </a:p>
          <a:p>
            <a:pPr algn="ctr"/>
            <a:r>
              <a:rPr lang="en-US" sz="6000" b="1" dirty="0">
                <a:ea typeface="Cascadia Code SemiBold" panose="020B0609020000020004" pitchFamily="49" charset="0"/>
                <a:cs typeface="Cascadia Code SemiBold" panose="020B0609020000020004" pitchFamily="49" charset="0"/>
              </a:rPr>
              <a:t>Credit Card Usage Segmentation</a:t>
            </a:r>
            <a:endParaRPr lang="en-US" sz="6000" b="1" dirty="0"/>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838200" y="365125"/>
            <a:ext cx="8097078" cy="1325563"/>
          </a:xfrm>
        </p:spPr>
        <p:txBody>
          <a:bodyPr/>
          <a:lstStyle/>
          <a:p>
            <a:r>
              <a:rPr lang="en-US" b="1" dirty="0">
                <a:solidFill>
                  <a:srgbClr val="00B0F0"/>
                </a:solidFill>
                <a:latin typeface="Calisto MT" panose="02040603050505030304" pitchFamily="18" charset="0"/>
              </a:rPr>
              <a:t>Credit card Usage Segmentation</a:t>
            </a:r>
            <a:endParaRPr lang="en-IN" b="1" dirty="0">
              <a:solidFill>
                <a:srgbClr val="00B0F0"/>
              </a:solidFill>
              <a:latin typeface="Calisto MT" panose="02040603050505030304" pitchFamily="18" charset="0"/>
            </a:endParaRPr>
          </a:p>
        </p:txBody>
      </p:sp>
      <p:sp>
        <p:nvSpPr>
          <p:cNvPr id="6" name="Content Placeholder 5">
            <a:extLst>
              <a:ext uri="{FF2B5EF4-FFF2-40B4-BE49-F238E27FC236}">
                <a16:creationId xmlns:a16="http://schemas.microsoft.com/office/drawing/2014/main" id="{BC06CD2F-87AA-63C9-C298-C22B53EED772}"/>
              </a:ext>
            </a:extLst>
          </p:cNvPr>
          <p:cNvSpPr>
            <a:spLocks noGrp="1"/>
          </p:cNvSpPr>
          <p:nvPr>
            <p:ph idx="1"/>
          </p:nvPr>
        </p:nvSpPr>
        <p:spPr>
          <a:xfrm>
            <a:off x="678884" y="1675075"/>
            <a:ext cx="5950516" cy="4398066"/>
          </a:xfrm>
        </p:spPr>
        <p:txBody>
          <a:bodyPr>
            <a:normAutofit fontScale="92500" lnSpcReduction="10000"/>
          </a:bodyPr>
          <a:lstStyle/>
          <a:p>
            <a:r>
              <a:rPr lang="en-IN" dirty="0"/>
              <a:t>This project focuses on developing unsupervised learning models for customer segmentation based on credit card usage data.</a:t>
            </a:r>
          </a:p>
          <a:p>
            <a:r>
              <a:rPr lang="en-IN" dirty="0"/>
              <a:t> The models aim to provide insights into distinct customer segments, improve credit risk assessment, and optimize marketing strategies. </a:t>
            </a:r>
          </a:p>
          <a:p>
            <a:r>
              <a:rPr lang="en-IN" dirty="0"/>
              <a:t>Deliverables include segmentation models, comprehensive data visualizations, and a comparative analysis of various algorithms.</a:t>
            </a:r>
          </a:p>
        </p:txBody>
      </p:sp>
      <p:pic>
        <p:nvPicPr>
          <p:cNvPr id="7" name="Picture 6">
            <a:extLst>
              <a:ext uri="{FF2B5EF4-FFF2-40B4-BE49-F238E27FC236}">
                <a16:creationId xmlns:a16="http://schemas.microsoft.com/office/drawing/2014/main" id="{886226ED-3E84-A8AA-6DAF-91C7D589587E}"/>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6629400" y="1690688"/>
            <a:ext cx="4883716" cy="4069742"/>
          </a:xfrm>
          <a:prstGeom prst="rect">
            <a:avLst/>
          </a:prstGeom>
        </p:spPr>
      </p:pic>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678883" y="292100"/>
            <a:ext cx="3048291" cy="1228587"/>
          </a:xfrm>
        </p:spPr>
        <p:txBody>
          <a:bodyPr>
            <a:normAutofit/>
          </a:bodyPr>
          <a:lstStyle/>
          <a:p>
            <a:pPr algn="ctr"/>
            <a:r>
              <a:rPr lang="en-US" sz="6600" b="1" dirty="0">
                <a:solidFill>
                  <a:srgbClr val="00B0F0"/>
                </a:solidFill>
                <a:latin typeface="+mn-lt"/>
              </a:rPr>
              <a:t>Agenda</a:t>
            </a:r>
            <a:endParaRPr lang="en-IN" sz="6600" b="1" dirty="0">
              <a:solidFill>
                <a:srgbClr val="00B0F0"/>
              </a:solidFill>
              <a:latin typeface="+mn-lt"/>
            </a:endParaRPr>
          </a:p>
        </p:txBody>
      </p:sp>
      <p:sp>
        <p:nvSpPr>
          <p:cNvPr id="12" name="Content Placeholder 11">
            <a:extLst>
              <a:ext uri="{FF2B5EF4-FFF2-40B4-BE49-F238E27FC236}">
                <a16:creationId xmlns:a16="http://schemas.microsoft.com/office/drawing/2014/main" id="{3B0AC18A-C549-8FEA-E9A0-597A5614D5B2}"/>
              </a:ext>
            </a:extLst>
          </p:cNvPr>
          <p:cNvSpPr>
            <a:spLocks noGrp="1"/>
          </p:cNvSpPr>
          <p:nvPr>
            <p:ph idx="1"/>
          </p:nvPr>
        </p:nvSpPr>
        <p:spPr>
          <a:xfrm>
            <a:off x="678883" y="1649896"/>
            <a:ext cx="10674917" cy="4527067"/>
          </a:xfrm>
        </p:spPr>
        <p:txBody>
          <a:bodyPr>
            <a:normAutofit fontScale="92500" lnSpcReduction="10000"/>
          </a:bodyPr>
          <a:lstStyle/>
          <a:p>
            <a:pPr>
              <a:buFont typeface="Wingdings" panose="05000000000000000000" pitchFamily="2" charset="2"/>
              <a:buChar char="Ø"/>
            </a:pPr>
            <a:r>
              <a:rPr lang="en-IN" dirty="0"/>
              <a:t>  Introduction</a:t>
            </a:r>
          </a:p>
          <a:p>
            <a:pPr>
              <a:buFont typeface="Wingdings" panose="05000000000000000000" pitchFamily="2" charset="2"/>
              <a:buChar char="Ø"/>
            </a:pPr>
            <a:r>
              <a:rPr lang="en-IN" dirty="0"/>
              <a:t>  Steps Involved</a:t>
            </a:r>
          </a:p>
          <a:p>
            <a:pPr>
              <a:buFont typeface="Wingdings" panose="05000000000000000000" pitchFamily="2" charset="2"/>
              <a:buChar char="Ø"/>
            </a:pPr>
            <a:r>
              <a:rPr lang="en-IN" dirty="0"/>
              <a:t>  Data Overview</a:t>
            </a:r>
          </a:p>
          <a:p>
            <a:pPr>
              <a:buFont typeface="Wingdings" panose="05000000000000000000" pitchFamily="2" charset="2"/>
              <a:buChar char="Ø"/>
            </a:pPr>
            <a:r>
              <a:rPr lang="en-IN" dirty="0"/>
              <a:t>  Data Preprocessing</a:t>
            </a:r>
          </a:p>
          <a:p>
            <a:pPr>
              <a:buFont typeface="Wingdings" panose="05000000000000000000" pitchFamily="2" charset="2"/>
              <a:buChar char="Ø"/>
            </a:pPr>
            <a:r>
              <a:rPr lang="en-IN" dirty="0"/>
              <a:t>  Exploratory Data Analysis (EDA)</a:t>
            </a:r>
          </a:p>
          <a:p>
            <a:pPr>
              <a:buFont typeface="Wingdings" panose="05000000000000000000" pitchFamily="2" charset="2"/>
              <a:buChar char="Ø"/>
            </a:pPr>
            <a:r>
              <a:rPr lang="en-IN" dirty="0"/>
              <a:t>  Dimensionality Reduction  (PCA &amp; t-SNE)</a:t>
            </a:r>
          </a:p>
          <a:p>
            <a:pPr>
              <a:buFont typeface="Wingdings" panose="05000000000000000000" pitchFamily="2" charset="2"/>
              <a:buChar char="Ø"/>
            </a:pPr>
            <a:r>
              <a:rPr lang="en-IN" dirty="0"/>
              <a:t>  Model Selection And Evaluation</a:t>
            </a:r>
          </a:p>
          <a:p>
            <a:pPr>
              <a:buFont typeface="Wingdings" panose="05000000000000000000" pitchFamily="2" charset="2"/>
              <a:buChar char="Ø"/>
            </a:pPr>
            <a:r>
              <a:rPr lang="en-IN" dirty="0"/>
              <a:t>  Model Deployment</a:t>
            </a:r>
          </a:p>
          <a:p>
            <a:pPr>
              <a:buFont typeface="Wingdings" panose="05000000000000000000" pitchFamily="2" charset="2"/>
              <a:buChar char="Ø"/>
            </a:pPr>
            <a:r>
              <a:rPr lang="en-IN" dirty="0"/>
              <a:t>  Applications and Benefits</a:t>
            </a:r>
          </a:p>
          <a:p>
            <a:pPr>
              <a:buFont typeface="Wingdings" panose="05000000000000000000" pitchFamily="2" charset="2"/>
              <a:buChar char="Ø"/>
            </a:pPr>
            <a:r>
              <a:rPr lang="en-IN" dirty="0"/>
              <a:t>  Conclusion</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195380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E654A-F197-F164-AEA3-8634B0EA0A1E}"/>
              </a:ext>
            </a:extLst>
          </p:cNvPr>
          <p:cNvSpPr>
            <a:spLocks noGrp="1"/>
          </p:cNvSpPr>
          <p:nvPr>
            <p:ph type="title"/>
          </p:nvPr>
        </p:nvSpPr>
        <p:spPr/>
        <p:txBody>
          <a:bodyPr/>
          <a:lstStyle/>
          <a:p>
            <a:r>
              <a:rPr lang="en-IN" sz="6000" b="1" dirty="0">
                <a:solidFill>
                  <a:srgbClr val="00B0F0"/>
                </a:solidFill>
                <a:latin typeface="+mn-lt"/>
              </a:rPr>
              <a:t>Introduction</a:t>
            </a:r>
            <a:endParaRPr lang="en-IN" b="1" dirty="0">
              <a:solidFill>
                <a:srgbClr val="00B0F0"/>
              </a:solidFill>
              <a:latin typeface="+mn-lt"/>
            </a:endParaRPr>
          </a:p>
        </p:txBody>
      </p:sp>
      <p:sp>
        <p:nvSpPr>
          <p:cNvPr id="4" name="Content Placeholder 2">
            <a:extLst>
              <a:ext uri="{FF2B5EF4-FFF2-40B4-BE49-F238E27FC236}">
                <a16:creationId xmlns:a16="http://schemas.microsoft.com/office/drawing/2014/main" id="{032207D7-0D87-C7CA-1074-C201FCCF5A46}"/>
              </a:ext>
            </a:extLst>
          </p:cNvPr>
          <p:cNvSpPr txBox="1">
            <a:spLocks/>
          </p:cNvSpPr>
          <p:nvPr/>
        </p:nvSpPr>
        <p:spPr>
          <a:xfrm>
            <a:off x="987287" y="196056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5" name="Rectangle 1">
            <a:extLst>
              <a:ext uri="{FF2B5EF4-FFF2-40B4-BE49-F238E27FC236}">
                <a16:creationId xmlns:a16="http://schemas.microsoft.com/office/drawing/2014/main" id="{F1B62460-7FC3-3ED3-34EE-3519D31A0947}"/>
              </a:ext>
            </a:extLst>
          </p:cNvPr>
          <p:cNvSpPr>
            <a:spLocks noGrp="1" noChangeArrowheads="1"/>
          </p:cNvSpPr>
          <p:nvPr>
            <p:ph idx="1"/>
          </p:nvPr>
        </p:nvSpPr>
        <p:spPr bwMode="auto">
          <a:xfrm>
            <a:off x="838200" y="2108467"/>
            <a:ext cx="1066468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Credit card companies handle large volumes of customer data related to spending, payments, and credit behavior.</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Understanding how different customers use their credit cards is critical for:</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Targeted marketing</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Risk assessment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Customer retention</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This project applies unsupervised machine learning (</a:t>
            </a:r>
            <a:r>
              <a:rPr kumimoji="0" lang="en-US" altLang="en-US" sz="2400" i="0" u="none" strike="noStrike" cap="none" normalizeH="0" baseline="0" dirty="0" err="1">
                <a:ln>
                  <a:noFill/>
                </a:ln>
                <a:solidFill>
                  <a:schemeClr val="tx1"/>
                </a:solidFill>
                <a:effectLst/>
                <a:latin typeface="Arial" panose="020B0604020202020204" pitchFamily="34" charset="0"/>
              </a:rPr>
              <a:t>KMeans</a:t>
            </a:r>
            <a:r>
              <a:rPr kumimoji="0" lang="en-US" altLang="en-US" sz="2400" i="0" u="none" strike="noStrike" cap="none" normalizeH="0" baseline="0" dirty="0">
                <a:ln>
                  <a:noFill/>
                </a:ln>
                <a:solidFill>
                  <a:schemeClr val="tx1"/>
                </a:solidFill>
                <a:effectLst/>
                <a:latin typeface="Arial" panose="020B0604020202020204" pitchFamily="34" charset="0"/>
              </a:rPr>
              <a:t> Clustering) to group customers based on their usage patterns.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These segments help businesses offer personalized services and make strategic decisions.</a:t>
            </a:r>
          </a:p>
        </p:txBody>
      </p:sp>
    </p:spTree>
    <p:extLst>
      <p:ext uri="{BB962C8B-B14F-4D97-AF65-F5344CB8AC3E}">
        <p14:creationId xmlns:p14="http://schemas.microsoft.com/office/powerpoint/2010/main" val="1913218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C315CC5-AC6C-0DF1-2087-1E05807A9AC4}"/>
              </a:ext>
            </a:extLst>
          </p:cNvPr>
          <p:cNvGraphicFramePr>
            <a:graphicFrameLocks noGrp="1"/>
          </p:cNvGraphicFramePr>
          <p:nvPr>
            <p:ph idx="1"/>
            <p:extLst>
              <p:ext uri="{D42A27DB-BD31-4B8C-83A1-F6EECF244321}">
                <p14:modId xmlns:p14="http://schemas.microsoft.com/office/powerpoint/2010/main" val="1656319487"/>
              </p:ext>
            </p:extLst>
          </p:nvPr>
        </p:nvGraphicFramePr>
        <p:xfrm>
          <a:off x="4455269" y="603666"/>
          <a:ext cx="7057847" cy="54542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4E1EEFD2-8AE4-42C3-979B-09FFFC3D79BA}"/>
              </a:ext>
            </a:extLst>
          </p:cNvPr>
          <p:cNvSpPr>
            <a:spLocks noGrp="1"/>
          </p:cNvSpPr>
          <p:nvPr>
            <p:ph type="title"/>
          </p:nvPr>
        </p:nvSpPr>
        <p:spPr>
          <a:xfrm>
            <a:off x="228600" y="1208313"/>
            <a:ext cx="3494314" cy="4245429"/>
          </a:xfrm>
        </p:spPr>
        <p:txBody>
          <a:bodyPr>
            <a:noAutofit/>
          </a:bodyPr>
          <a:lstStyle/>
          <a:p>
            <a:pPr marL="0" indent="0"/>
            <a:r>
              <a:rPr lang="en-IN" sz="3200" b="1" dirty="0"/>
              <a:t>     Steps Involved </a:t>
            </a:r>
            <a:br>
              <a:rPr lang="en-IN" sz="3200" b="1" dirty="0"/>
            </a:br>
            <a:r>
              <a:rPr lang="en-IN" sz="3200" b="1" dirty="0"/>
              <a:t>     in Developing </a:t>
            </a:r>
            <a:br>
              <a:rPr lang="en-IN" sz="3200" b="1" dirty="0"/>
            </a:br>
            <a:r>
              <a:rPr lang="en-IN" sz="3200" b="1" dirty="0"/>
              <a:t>     “Credit Card </a:t>
            </a:r>
            <a:br>
              <a:rPr lang="en-IN" sz="3200" b="1" dirty="0"/>
            </a:br>
            <a:r>
              <a:rPr lang="en-IN" sz="3200" b="1" dirty="0"/>
              <a:t>     Usage </a:t>
            </a:r>
            <a:br>
              <a:rPr lang="en-IN" sz="3200" b="1" dirty="0"/>
            </a:br>
            <a:r>
              <a:rPr lang="en-IN" sz="3200" b="1" dirty="0"/>
              <a:t>     Segmentation”</a:t>
            </a:r>
            <a:endParaRPr lang="en-IN" sz="3200" dirty="0"/>
          </a:p>
        </p:txBody>
      </p:sp>
    </p:spTree>
    <p:extLst>
      <p:ext uri="{BB962C8B-B14F-4D97-AF65-F5344CB8AC3E}">
        <p14:creationId xmlns:p14="http://schemas.microsoft.com/office/powerpoint/2010/main" val="1194519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838201" y="500062"/>
            <a:ext cx="5105400" cy="1325563"/>
          </a:xfrm>
        </p:spPr>
        <p:txBody>
          <a:bodyPr>
            <a:normAutofit/>
          </a:bodyPr>
          <a:lstStyle/>
          <a:p>
            <a:pPr algn="ctr"/>
            <a:r>
              <a:rPr lang="en-US" sz="6000" b="1" dirty="0">
                <a:solidFill>
                  <a:srgbClr val="00B0F0"/>
                </a:solidFill>
                <a:latin typeface="+mn-lt"/>
              </a:rPr>
              <a:t>Data Overview</a:t>
            </a:r>
          </a:p>
        </p:txBody>
      </p:sp>
      <p:sp>
        <p:nvSpPr>
          <p:cNvPr id="7" name="Content Placeholder 6">
            <a:extLst>
              <a:ext uri="{FF2B5EF4-FFF2-40B4-BE49-F238E27FC236}">
                <a16:creationId xmlns:a16="http://schemas.microsoft.com/office/drawing/2014/main" id="{E820E96D-6103-59B7-02E4-EDE69CA65826}"/>
              </a:ext>
            </a:extLst>
          </p:cNvPr>
          <p:cNvSpPr>
            <a:spLocks noGrp="1"/>
          </p:cNvSpPr>
          <p:nvPr>
            <p:ph idx="1"/>
          </p:nvPr>
        </p:nvSpPr>
        <p:spPr>
          <a:xfrm>
            <a:off x="838200" y="1825625"/>
            <a:ext cx="10515600" cy="4351338"/>
          </a:xfrm>
        </p:spPr>
        <p:txBody>
          <a:bodyPr>
            <a:normAutofit/>
          </a:bodyPr>
          <a:lstStyle/>
          <a:p>
            <a:pPr>
              <a:buFont typeface="Wingdings" panose="05000000000000000000" pitchFamily="2" charset="2"/>
              <a:buChar char="Ø"/>
            </a:pPr>
            <a:r>
              <a:rPr lang="en-IN" sz="4800" dirty="0"/>
              <a:t> </a:t>
            </a:r>
            <a:r>
              <a:rPr lang="en-IN" sz="4000" dirty="0"/>
              <a:t>The dataset contains Total Rows: </a:t>
            </a:r>
            <a:r>
              <a:rPr lang="en-US" altLang="en-US" sz="4000" dirty="0"/>
              <a:t>8950</a:t>
            </a:r>
            <a:r>
              <a:rPr lang="en-IN" sz="4000" dirty="0"/>
              <a:t>, Columns: 18</a:t>
            </a:r>
            <a:r>
              <a:rPr lang="en-IN" sz="4800" dirty="0"/>
              <a:t>.</a:t>
            </a:r>
          </a:p>
          <a:p>
            <a:pPr>
              <a:buFont typeface="Wingdings" panose="05000000000000000000" pitchFamily="2" charset="2"/>
              <a:buChar char="Ø"/>
            </a:pPr>
            <a:r>
              <a:rPr lang="en-IN" sz="4800" dirty="0">
                <a:latin typeface="+mj-lt"/>
              </a:rPr>
              <a:t> </a:t>
            </a:r>
            <a:r>
              <a:rPr lang="en-IN" sz="4000" dirty="0">
                <a:latin typeface="+mj-lt"/>
              </a:rPr>
              <a:t>It related to credit card usage and customer behaviour</a:t>
            </a:r>
            <a:r>
              <a:rPr lang="en-IN" sz="4800" dirty="0">
                <a:latin typeface="+mj-lt"/>
              </a:rPr>
              <a:t>.</a:t>
            </a:r>
          </a:p>
          <a:p>
            <a:pPr>
              <a:buFont typeface="Wingdings" panose="05000000000000000000" pitchFamily="2" charset="2"/>
              <a:buChar char="Ø"/>
            </a:pPr>
            <a:r>
              <a:rPr lang="en-US" sz="4800" dirty="0">
                <a:latin typeface="+mj-lt"/>
              </a:rPr>
              <a:t> </a:t>
            </a:r>
            <a:r>
              <a:rPr lang="en-US" sz="4000" dirty="0">
                <a:latin typeface="+mj-lt"/>
              </a:rPr>
              <a:t>Drop missing values in Dataset </a:t>
            </a:r>
            <a:endParaRPr lang="en-IN" sz="4000" dirty="0">
              <a:latin typeface="+mj-lt"/>
            </a:endParaRPr>
          </a:p>
        </p:txBody>
      </p:sp>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E437F34F-523A-5B8C-6794-6DE44C154FD7}"/>
              </a:ext>
            </a:extLst>
          </p:cNvPr>
          <p:cNvSpPr>
            <a:spLocks noGrp="1"/>
          </p:cNvSpPr>
          <p:nvPr>
            <p:ph idx="1"/>
          </p:nvPr>
        </p:nvSpPr>
        <p:spPr>
          <a:xfrm>
            <a:off x="576469" y="616226"/>
            <a:ext cx="11039061" cy="5625548"/>
          </a:xfrm>
        </p:spPr>
        <p:txBody>
          <a:bodyPr>
            <a:normAutofit fontScale="55000" lnSpcReduction="20000"/>
          </a:bodyPr>
          <a:lstStyle/>
          <a:p>
            <a:pPr marL="0" lvl="0" indent="0">
              <a:buNone/>
            </a:pPr>
            <a:r>
              <a:rPr lang="en-IN" sz="3600" b="1" dirty="0">
                <a:solidFill>
                  <a:schemeClr val="accent5">
                    <a:lumMod val="50000"/>
                  </a:schemeClr>
                </a:solidFill>
              </a:rPr>
              <a:t>Here's a brief description of the columns you've listed:</a:t>
            </a:r>
          </a:p>
          <a:p>
            <a:pPr marL="514350" lvl="0" indent="-514350">
              <a:buFont typeface="+mj-lt"/>
              <a:buAutoNum type="arabicPeriod"/>
            </a:pPr>
            <a:r>
              <a:rPr lang="en-IN" b="1" dirty="0"/>
              <a:t>CUST_ID :</a:t>
            </a:r>
            <a:r>
              <a:rPr lang="en-IN" dirty="0"/>
              <a:t> A unique identifier for each customer.</a:t>
            </a:r>
          </a:p>
          <a:p>
            <a:pPr marL="514350" lvl="0" indent="-514350">
              <a:buFont typeface="+mj-lt"/>
              <a:buAutoNum type="arabicPeriod"/>
            </a:pPr>
            <a:r>
              <a:rPr lang="en-IN" b="1" dirty="0"/>
              <a:t>BALANCE : </a:t>
            </a:r>
            <a:r>
              <a:rPr lang="en-IN" dirty="0"/>
              <a:t>The current balance on the credit card account.</a:t>
            </a:r>
          </a:p>
          <a:p>
            <a:pPr marL="514350" lvl="0" indent="-514350">
              <a:buFont typeface="+mj-lt"/>
              <a:buAutoNum type="arabicPeriod"/>
            </a:pPr>
            <a:r>
              <a:rPr lang="en-IN" b="1" dirty="0"/>
              <a:t>BALANCE_FREQUENCY :</a:t>
            </a:r>
            <a:r>
              <a:rPr lang="en-IN" dirty="0"/>
              <a:t> Could indicate how often the balance changes.</a:t>
            </a:r>
          </a:p>
          <a:p>
            <a:pPr marL="514350" lvl="0" indent="-514350">
              <a:buFont typeface="+mj-lt"/>
              <a:buAutoNum type="arabicPeriod"/>
            </a:pPr>
            <a:r>
              <a:rPr lang="en-IN" b="1" dirty="0"/>
              <a:t>PURCHASES :</a:t>
            </a:r>
            <a:r>
              <a:rPr lang="en-IN" dirty="0"/>
              <a:t> Total amount of purchases made.</a:t>
            </a:r>
          </a:p>
          <a:p>
            <a:pPr marL="514350" lvl="0" indent="-514350">
              <a:buFont typeface="+mj-lt"/>
              <a:buAutoNum type="arabicPeriod"/>
            </a:pPr>
            <a:r>
              <a:rPr lang="en-IN" b="1" dirty="0"/>
              <a:t>ONEOFF_PURCHASES :</a:t>
            </a:r>
            <a:r>
              <a:rPr lang="en-IN" dirty="0"/>
              <a:t> Amount spent on one-time purchases.</a:t>
            </a:r>
          </a:p>
          <a:p>
            <a:pPr marL="514350" lvl="0" indent="-514350">
              <a:buFont typeface="+mj-lt"/>
              <a:buAutoNum type="arabicPeriod"/>
            </a:pPr>
            <a:r>
              <a:rPr lang="en-IN" b="1" dirty="0"/>
              <a:t>INSTALLMENTS_PURCHASES : </a:t>
            </a:r>
            <a:r>
              <a:rPr lang="en-IN" dirty="0"/>
              <a:t>Amount spent on purchases paid in </a:t>
            </a:r>
            <a:r>
              <a:rPr lang="en-IN" dirty="0" err="1"/>
              <a:t>installments</a:t>
            </a:r>
            <a:r>
              <a:rPr lang="en-IN" dirty="0"/>
              <a:t>.</a:t>
            </a:r>
          </a:p>
          <a:p>
            <a:pPr marL="514350" lvl="0" indent="-514350">
              <a:buFont typeface="+mj-lt"/>
              <a:buAutoNum type="arabicPeriod"/>
            </a:pPr>
            <a:r>
              <a:rPr lang="en-IN" b="1" dirty="0"/>
              <a:t>CASH_ADVANCE :</a:t>
            </a:r>
            <a:r>
              <a:rPr lang="en-IN" dirty="0"/>
              <a:t> Total amount of cash advances taken.</a:t>
            </a:r>
          </a:p>
          <a:p>
            <a:pPr marL="514350" lvl="0" indent="-514350">
              <a:buFont typeface="+mj-lt"/>
              <a:buAutoNum type="arabicPeriod"/>
            </a:pPr>
            <a:r>
              <a:rPr lang="en-IN" b="1" dirty="0"/>
              <a:t>PURCHASES_FREQUENCY :</a:t>
            </a:r>
            <a:r>
              <a:rPr lang="en-IN" dirty="0"/>
              <a:t> How often purchases are made.</a:t>
            </a:r>
          </a:p>
          <a:p>
            <a:pPr marL="514350" lvl="0" indent="-514350">
              <a:buFont typeface="+mj-lt"/>
              <a:buAutoNum type="arabicPeriod"/>
            </a:pPr>
            <a:r>
              <a:rPr lang="en-IN" b="1" dirty="0"/>
              <a:t>ONEOFF_PURCHASES_FREQUENCY :</a:t>
            </a:r>
            <a:r>
              <a:rPr lang="en-IN" dirty="0"/>
              <a:t> Frequency of one-time purchases.</a:t>
            </a:r>
          </a:p>
          <a:p>
            <a:pPr marL="514350" lvl="0" indent="-514350">
              <a:buFont typeface="+mj-lt"/>
              <a:buAutoNum type="arabicPeriod"/>
            </a:pPr>
            <a:r>
              <a:rPr lang="en-IN" b="1" dirty="0"/>
              <a:t>PURCHASES_INSTALLMENTS_FREQUENCY :</a:t>
            </a:r>
            <a:r>
              <a:rPr lang="en-IN" dirty="0"/>
              <a:t> How often installment purchases are made.</a:t>
            </a:r>
          </a:p>
          <a:p>
            <a:pPr marL="514350" lvl="0" indent="-514350">
              <a:buFont typeface="+mj-lt"/>
              <a:buAutoNum type="arabicPeriod"/>
            </a:pPr>
            <a:r>
              <a:rPr lang="en-IN" b="1" dirty="0"/>
              <a:t>CASH_ADVANCE_FREQUENCY :</a:t>
            </a:r>
            <a:r>
              <a:rPr lang="en-IN" dirty="0"/>
              <a:t> Frequency of cash advances.</a:t>
            </a:r>
            <a:endParaRPr lang="en-IN" b="1" dirty="0"/>
          </a:p>
          <a:p>
            <a:pPr marL="514350" lvl="0" indent="-514350">
              <a:buFont typeface="+mj-lt"/>
              <a:buAutoNum type="arabicPeriod"/>
            </a:pPr>
            <a:r>
              <a:rPr lang="en-IN" b="1" dirty="0"/>
              <a:t>CASH_ADVANCE_TRX :</a:t>
            </a:r>
            <a:r>
              <a:rPr lang="en-IN" dirty="0"/>
              <a:t> Number of cash advance transactions.</a:t>
            </a:r>
            <a:endParaRPr lang="en-IN" b="1" dirty="0"/>
          </a:p>
          <a:p>
            <a:pPr marL="514350" lvl="0" indent="-514350">
              <a:buFont typeface="+mj-lt"/>
              <a:buAutoNum type="arabicPeriod"/>
            </a:pPr>
            <a:r>
              <a:rPr lang="en-IN" b="1" dirty="0"/>
              <a:t>PURCHASES_TRX :</a:t>
            </a:r>
            <a:r>
              <a:rPr lang="en-IN" dirty="0"/>
              <a:t> Total number of purchase transactions.</a:t>
            </a:r>
          </a:p>
          <a:p>
            <a:pPr marL="514350" lvl="0" indent="-514350">
              <a:buFont typeface="+mj-lt"/>
              <a:buAutoNum type="arabicPeriod"/>
            </a:pPr>
            <a:r>
              <a:rPr lang="en-IN" b="1" dirty="0"/>
              <a:t>CREDIT_LIMIT : </a:t>
            </a:r>
            <a:r>
              <a:rPr lang="en-IN" dirty="0"/>
              <a:t>The credit limit on the account.</a:t>
            </a:r>
          </a:p>
          <a:p>
            <a:pPr marL="514350" lvl="0" indent="-514350">
              <a:buFont typeface="+mj-lt"/>
              <a:buAutoNum type="arabicPeriod"/>
            </a:pPr>
            <a:r>
              <a:rPr lang="en-IN" b="1" dirty="0"/>
              <a:t>PAYMENTS :</a:t>
            </a:r>
            <a:r>
              <a:rPr lang="en-IN" dirty="0"/>
              <a:t> Total amount of payments made.</a:t>
            </a:r>
          </a:p>
          <a:p>
            <a:pPr marL="514350" lvl="0" indent="-514350">
              <a:buFont typeface="+mj-lt"/>
              <a:buAutoNum type="arabicPeriod"/>
            </a:pPr>
            <a:r>
              <a:rPr lang="en-IN" b="1" dirty="0"/>
              <a:t>MINIMUM_PAYMENTS :</a:t>
            </a:r>
            <a:r>
              <a:rPr lang="en-IN" dirty="0"/>
              <a:t> Total amount of minimum payments made.</a:t>
            </a:r>
          </a:p>
          <a:p>
            <a:pPr marL="514350" lvl="0" indent="-514350">
              <a:buFont typeface="+mj-lt"/>
              <a:buAutoNum type="arabicPeriod"/>
            </a:pPr>
            <a:r>
              <a:rPr lang="en-IN" b="1" dirty="0"/>
              <a:t>PRC_FULL_PAYMENT :</a:t>
            </a:r>
            <a:r>
              <a:rPr lang="en-IN" dirty="0"/>
              <a:t> Percentage of times the full payment was made.</a:t>
            </a:r>
          </a:p>
          <a:p>
            <a:pPr marL="514350" lvl="0" indent="-514350">
              <a:buFont typeface="+mj-lt"/>
              <a:buAutoNum type="arabicPeriod"/>
            </a:pPr>
            <a:r>
              <a:rPr lang="en-IN" b="1" dirty="0"/>
              <a:t>TENURE :</a:t>
            </a:r>
            <a:r>
              <a:rPr lang="en-IN" dirty="0"/>
              <a:t> Length of time the customer has had the credit card account.</a:t>
            </a:r>
          </a:p>
        </p:txBody>
      </p:sp>
    </p:spTree>
    <p:extLst>
      <p:ext uri="{BB962C8B-B14F-4D97-AF65-F5344CB8AC3E}">
        <p14:creationId xmlns:p14="http://schemas.microsoft.com/office/powerpoint/2010/main" val="2127781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EDB38-D263-0972-1BA1-7F83C0DD84A8}"/>
              </a:ext>
            </a:extLst>
          </p:cNvPr>
          <p:cNvSpPr>
            <a:spLocks noGrp="1"/>
          </p:cNvSpPr>
          <p:nvPr>
            <p:ph type="title"/>
          </p:nvPr>
        </p:nvSpPr>
        <p:spPr>
          <a:xfrm>
            <a:off x="838200" y="365125"/>
            <a:ext cx="6119191" cy="1325563"/>
          </a:xfrm>
        </p:spPr>
        <p:txBody>
          <a:bodyPr/>
          <a:lstStyle/>
          <a:p>
            <a:pPr algn="ctr"/>
            <a:r>
              <a:rPr lang="en-IN" dirty="0">
                <a:solidFill>
                  <a:schemeClr val="accent5">
                    <a:lumMod val="50000"/>
                  </a:schemeClr>
                </a:solidFill>
              </a:rPr>
              <a:t> </a:t>
            </a:r>
            <a:r>
              <a:rPr lang="en-IN" sz="5400" b="1" dirty="0">
                <a:solidFill>
                  <a:srgbClr val="00B0F0"/>
                </a:solidFill>
                <a:latin typeface="+mn-lt"/>
              </a:rPr>
              <a:t>Data Preprocessing</a:t>
            </a:r>
          </a:p>
        </p:txBody>
      </p:sp>
      <p:sp>
        <p:nvSpPr>
          <p:cNvPr id="3" name="Content Placeholder 2">
            <a:extLst>
              <a:ext uri="{FF2B5EF4-FFF2-40B4-BE49-F238E27FC236}">
                <a16:creationId xmlns:a16="http://schemas.microsoft.com/office/drawing/2014/main" id="{2BA7E1DF-B667-2682-1BB2-BF219206A97E}"/>
              </a:ext>
            </a:extLst>
          </p:cNvPr>
          <p:cNvSpPr>
            <a:spLocks noGrp="1"/>
          </p:cNvSpPr>
          <p:nvPr>
            <p:ph idx="1"/>
          </p:nvPr>
        </p:nvSpPr>
        <p:spPr/>
        <p:txBody>
          <a:bodyPr/>
          <a:lstStyle/>
          <a:p>
            <a:pPr>
              <a:buFont typeface="Wingdings" panose="05000000000000000000" pitchFamily="2" charset="2"/>
              <a:buChar char="Ø"/>
            </a:pPr>
            <a:r>
              <a:rPr lang="en-IN" sz="4800" dirty="0">
                <a:latin typeface="+mj-lt"/>
              </a:rPr>
              <a:t> Impute missing values</a:t>
            </a:r>
          </a:p>
          <a:p>
            <a:pPr>
              <a:buFont typeface="Wingdings" panose="05000000000000000000" pitchFamily="2" charset="2"/>
              <a:buChar char="Ø"/>
            </a:pPr>
            <a:r>
              <a:rPr lang="en-US" sz="4800" dirty="0">
                <a:latin typeface="+mj-lt"/>
              </a:rPr>
              <a:t> Drop ID column if present </a:t>
            </a:r>
          </a:p>
          <a:p>
            <a:pPr>
              <a:buFont typeface="Wingdings" panose="05000000000000000000" pitchFamily="2" charset="2"/>
              <a:buChar char="Ø"/>
            </a:pPr>
            <a:r>
              <a:rPr lang="en-US" sz="4800" dirty="0">
                <a:latin typeface="+mj-lt"/>
              </a:rPr>
              <a:t> Drop non-numeric and irrelevant column</a:t>
            </a:r>
          </a:p>
          <a:p>
            <a:pPr>
              <a:buFont typeface="Wingdings" panose="05000000000000000000" pitchFamily="2" charset="2"/>
              <a:buChar char="Ø"/>
            </a:pPr>
            <a:r>
              <a:rPr lang="en-US" sz="4800" dirty="0">
                <a:latin typeface="+mj-lt"/>
              </a:rPr>
              <a:t> Scale the data using Standard Scaler</a:t>
            </a:r>
            <a:endParaRPr lang="en-IN" sz="4800" dirty="0">
              <a:latin typeface="+mj-lt"/>
            </a:endParaRP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CDBD562-24E6-9B27-E5EB-836AC4CAE2A3}"/>
                  </a:ext>
                </a:extLst>
              </p14:cNvPr>
              <p14:cNvContentPartPr/>
              <p14:nvPr/>
            </p14:nvContentPartPr>
            <p14:xfrm>
              <a:off x="9094834" y="5355540"/>
              <a:ext cx="360" cy="360"/>
            </p14:xfrm>
          </p:contentPart>
        </mc:Choice>
        <mc:Fallback xmlns="">
          <p:pic>
            <p:nvPicPr>
              <p:cNvPr id="4" name="Ink 3">
                <a:extLst>
                  <a:ext uri="{FF2B5EF4-FFF2-40B4-BE49-F238E27FC236}">
                    <a16:creationId xmlns:a16="http://schemas.microsoft.com/office/drawing/2014/main" id="{7CDBD562-24E6-9B27-E5EB-836AC4CAE2A3}"/>
                  </a:ext>
                </a:extLst>
              </p:cNvPr>
              <p:cNvPicPr/>
              <p:nvPr/>
            </p:nvPicPr>
            <p:blipFill>
              <a:blip r:embed="rId3"/>
              <a:stretch>
                <a:fillRect/>
              </a:stretch>
            </p:blipFill>
            <p:spPr>
              <a:xfrm>
                <a:off x="9088714" y="5349420"/>
                <a:ext cx="12600" cy="12600"/>
              </a:xfrm>
              <a:prstGeom prst="rect">
                <a:avLst/>
              </a:prstGeom>
            </p:spPr>
          </p:pic>
        </mc:Fallback>
      </mc:AlternateContent>
    </p:spTree>
    <p:extLst>
      <p:ext uri="{BB962C8B-B14F-4D97-AF65-F5344CB8AC3E}">
        <p14:creationId xmlns:p14="http://schemas.microsoft.com/office/powerpoint/2010/main" val="808262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CF032-82F2-8F5F-E135-107B8E482229}"/>
              </a:ext>
            </a:extLst>
          </p:cNvPr>
          <p:cNvSpPr>
            <a:spLocks noGrp="1"/>
          </p:cNvSpPr>
          <p:nvPr>
            <p:ph type="title"/>
          </p:nvPr>
        </p:nvSpPr>
        <p:spPr>
          <a:xfrm>
            <a:off x="838200" y="234949"/>
            <a:ext cx="9269896" cy="1325563"/>
          </a:xfrm>
        </p:spPr>
        <p:txBody>
          <a:bodyPr>
            <a:normAutofit/>
          </a:bodyPr>
          <a:lstStyle/>
          <a:p>
            <a:pPr algn="ctr"/>
            <a:r>
              <a:rPr lang="en-IN" sz="5400" b="1" dirty="0">
                <a:solidFill>
                  <a:srgbClr val="00B0F0"/>
                </a:solidFill>
                <a:latin typeface="+mn-lt"/>
              </a:rPr>
              <a:t>Exploratory Data Analysis (EDA)</a:t>
            </a:r>
          </a:p>
        </p:txBody>
      </p:sp>
      <p:sp>
        <p:nvSpPr>
          <p:cNvPr id="3" name="Content Placeholder 2">
            <a:extLst>
              <a:ext uri="{FF2B5EF4-FFF2-40B4-BE49-F238E27FC236}">
                <a16:creationId xmlns:a16="http://schemas.microsoft.com/office/drawing/2014/main" id="{641C3AE9-9463-0385-6FE5-304023E3570C}"/>
              </a:ext>
            </a:extLst>
          </p:cNvPr>
          <p:cNvSpPr>
            <a:spLocks noGrp="1"/>
          </p:cNvSpPr>
          <p:nvPr>
            <p:ph idx="1"/>
          </p:nvPr>
        </p:nvSpPr>
        <p:spPr>
          <a:xfrm>
            <a:off x="838200" y="1690688"/>
            <a:ext cx="5257800" cy="4441755"/>
          </a:xfrm>
        </p:spPr>
        <p:txBody>
          <a:bodyPr>
            <a:normAutofit/>
          </a:bodyPr>
          <a:lstStyle/>
          <a:p>
            <a:pPr>
              <a:buFont typeface="Wingdings" panose="05000000000000000000" pitchFamily="2" charset="2"/>
              <a:buChar char="q"/>
            </a:pPr>
            <a:r>
              <a:rPr lang="en-US" dirty="0"/>
              <a:t> Explore customer behavior patterns in spending, payments, and credit usage.</a:t>
            </a:r>
          </a:p>
          <a:p>
            <a:pPr>
              <a:buFont typeface="Wingdings" panose="05000000000000000000" pitchFamily="2" charset="2"/>
              <a:buChar char="q"/>
            </a:pPr>
            <a:r>
              <a:rPr lang="en-US" dirty="0"/>
              <a:t> Plotted distributions of balances, purchases, credit limits.</a:t>
            </a:r>
          </a:p>
          <a:p>
            <a:pPr>
              <a:buFont typeface="Wingdings" panose="05000000000000000000" pitchFamily="2" charset="2"/>
              <a:buChar char="q"/>
            </a:pPr>
            <a:r>
              <a:rPr lang="en-US" dirty="0"/>
              <a:t> Correlation heatmap showed strong relationships.</a:t>
            </a:r>
          </a:p>
          <a:p>
            <a:pPr>
              <a:buFont typeface="Wingdings" panose="05000000000000000000" pitchFamily="2" charset="2"/>
              <a:buChar char="q"/>
            </a:pPr>
            <a:r>
              <a:rPr lang="en-US" dirty="0"/>
              <a:t> Identified key behavior-driving variables.</a:t>
            </a:r>
          </a:p>
          <a:p>
            <a:endParaRPr lang="en-IN" dirty="0"/>
          </a:p>
        </p:txBody>
      </p:sp>
      <p:sp>
        <p:nvSpPr>
          <p:cNvPr id="4" name="AutoShape 2" descr="Data Analysis Technique: Definition, Types &amp; Examples">
            <a:extLst>
              <a:ext uri="{FF2B5EF4-FFF2-40B4-BE49-F238E27FC236}">
                <a16:creationId xmlns:a16="http://schemas.microsoft.com/office/drawing/2014/main" id="{C7171C1E-4F3B-D6E7-A24B-D789E997CD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538B93DC-21C5-C94E-E7D4-715F1BBB1E64}"/>
              </a:ext>
            </a:extLst>
          </p:cNvPr>
          <p:cNvPicPr>
            <a:picLocks noChangeAspect="1"/>
          </p:cNvPicPr>
          <p:nvPr/>
        </p:nvPicPr>
        <p:blipFill>
          <a:blip r:embed="rId2"/>
          <a:stretch>
            <a:fillRect/>
          </a:stretch>
        </p:blipFill>
        <p:spPr>
          <a:xfrm>
            <a:off x="6096000" y="1690687"/>
            <a:ext cx="5655367" cy="4441755"/>
          </a:xfrm>
          <a:prstGeom prst="rect">
            <a:avLst/>
          </a:prstGeom>
        </p:spPr>
      </p:pic>
    </p:spTree>
    <p:extLst>
      <p:ext uri="{BB962C8B-B14F-4D97-AF65-F5344CB8AC3E}">
        <p14:creationId xmlns:p14="http://schemas.microsoft.com/office/powerpoint/2010/main" val="2642457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7FB80-09A8-30F8-40D8-F0B09EC2FAFC}"/>
              </a:ext>
            </a:extLst>
          </p:cNvPr>
          <p:cNvSpPr>
            <a:spLocks noGrp="1"/>
          </p:cNvSpPr>
          <p:nvPr>
            <p:ph type="title"/>
          </p:nvPr>
        </p:nvSpPr>
        <p:spPr>
          <a:xfrm>
            <a:off x="301486" y="365125"/>
            <a:ext cx="2630557" cy="1056169"/>
          </a:xfrm>
        </p:spPr>
        <p:txBody>
          <a:bodyPr>
            <a:normAutofit fontScale="90000"/>
          </a:bodyPr>
          <a:lstStyle/>
          <a:p>
            <a:r>
              <a:rPr lang="en-IN" dirty="0"/>
              <a:t> </a:t>
            </a:r>
            <a:r>
              <a:rPr lang="en-IN" b="1" dirty="0">
                <a:solidFill>
                  <a:schemeClr val="accent5">
                    <a:lumMod val="50000"/>
                  </a:schemeClr>
                </a:solidFill>
                <a:latin typeface="+mn-lt"/>
              </a:rPr>
              <a:t>Histogram</a:t>
            </a:r>
          </a:p>
        </p:txBody>
      </p:sp>
      <p:pic>
        <p:nvPicPr>
          <p:cNvPr id="9" name="Content Placeholder 8">
            <a:extLst>
              <a:ext uri="{FF2B5EF4-FFF2-40B4-BE49-F238E27FC236}">
                <a16:creationId xmlns:a16="http://schemas.microsoft.com/office/drawing/2014/main" id="{409BCE3D-646C-8EA8-8D12-62DFE52884A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116" t="30845" r="3484" b="10697"/>
          <a:stretch>
            <a:fillRect/>
          </a:stretch>
        </p:blipFill>
        <p:spPr>
          <a:xfrm>
            <a:off x="7308573" y="1421295"/>
            <a:ext cx="4843670" cy="4015409"/>
          </a:xfrm>
        </p:spPr>
      </p:pic>
      <p:sp>
        <p:nvSpPr>
          <p:cNvPr id="26" name="TextBox 25">
            <a:extLst>
              <a:ext uri="{FF2B5EF4-FFF2-40B4-BE49-F238E27FC236}">
                <a16:creationId xmlns:a16="http://schemas.microsoft.com/office/drawing/2014/main" id="{C2DB714E-C3C6-9171-3494-DB8F38340269}"/>
              </a:ext>
            </a:extLst>
          </p:cNvPr>
          <p:cNvSpPr txBox="1"/>
          <p:nvPr/>
        </p:nvSpPr>
        <p:spPr>
          <a:xfrm>
            <a:off x="301486" y="1421295"/>
            <a:ext cx="7235687" cy="4524315"/>
          </a:xfrm>
          <a:prstGeom prst="rect">
            <a:avLst/>
          </a:prstGeom>
          <a:noFill/>
        </p:spPr>
        <p:txBody>
          <a:bodyPr wrap="square">
            <a:spAutoFit/>
          </a:bodyPr>
          <a:lstStyle/>
          <a:p>
            <a:r>
              <a:rPr lang="en-IN" sz="1600" b="1" dirty="0">
                <a:solidFill>
                  <a:srgbClr val="002060"/>
                </a:solidFill>
              </a:rPr>
              <a:t>1. BALANCE &amp; BALANCE_FREQUENCY</a:t>
            </a:r>
            <a:r>
              <a:rPr lang="en-IN" sz="1600" b="1" dirty="0">
                <a:solidFill>
                  <a:schemeClr val="accent6"/>
                </a:solidFill>
              </a:rPr>
              <a:t> </a:t>
            </a:r>
            <a:r>
              <a:rPr lang="en-IN" sz="1600" dirty="0"/>
              <a:t>Balance is highly right-skewed – most customers keep low balances, while a few maintain very high amounts.Balance Frequency is clustered near 1.0 – indicates many users check their balance frequently or regularly.</a:t>
            </a:r>
          </a:p>
          <a:p>
            <a:r>
              <a:rPr lang="en-IN" sz="1600" b="1" dirty="0">
                <a:solidFill>
                  <a:srgbClr val="002060"/>
                </a:solidFill>
              </a:rPr>
              <a:t>2. PURCHASES-RELATED FEATURESPURCHASES &amp; ONEOFF_PURCHASES:</a:t>
            </a:r>
            <a:r>
              <a:rPr lang="en-IN" sz="1600" dirty="0"/>
              <a:t>Most customers make small or occasional purchases.A few make very large one-time purchases – these may represent high-spending or business customers.INSTALLMENTS_PURCHASES:Spikes at low values – EMI-based purchases are less common than direct purchases.PURCHASES_FREQUENCY:Many customers shop frequently (values near 1), suggesting active usage.ONEOFF_PURCHASES_FREQUENCY:Lower than general purchase frequency – most customers prefer regular over one-time usage.PURCHASES_INSTALLMENTS_FREQUENCY:Again, lower compared to other frequency features – installment shopping is less common.</a:t>
            </a:r>
          </a:p>
          <a:p>
            <a:r>
              <a:rPr lang="en-IN" sz="1600" b="1" dirty="0">
                <a:solidFill>
                  <a:srgbClr val="002060"/>
                </a:solidFill>
              </a:rPr>
              <a:t>3. CASH ADVANCE-RELATED FEATURESCASH_ADVANCE &amp; CASH_ADVANCE_TRX:</a:t>
            </a:r>
            <a:r>
              <a:rPr lang="en-IN" sz="1600" dirty="0"/>
              <a:t>Most customers avoid cash advances, with very few having high usage.CASH_ADVANCE_FREQUENCY:Majority of values are close to 0 – confirms infrequent or no use of cash withdrawals.</a:t>
            </a:r>
          </a:p>
        </p:txBody>
      </p:sp>
    </p:spTree>
    <p:extLst>
      <p:ext uri="{BB962C8B-B14F-4D97-AF65-F5344CB8AC3E}">
        <p14:creationId xmlns:p14="http://schemas.microsoft.com/office/powerpoint/2010/main" val="3856558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CA8F97-FE21-260C-4E47-8654528D0A0D}"/>
              </a:ext>
            </a:extLst>
          </p:cNvPr>
          <p:cNvSpPr txBox="1"/>
          <p:nvPr/>
        </p:nvSpPr>
        <p:spPr>
          <a:xfrm>
            <a:off x="226942" y="4929809"/>
            <a:ext cx="11738113" cy="1015663"/>
          </a:xfrm>
          <a:prstGeom prst="rect">
            <a:avLst/>
          </a:prstGeom>
          <a:noFill/>
        </p:spPr>
        <p:txBody>
          <a:bodyPr wrap="square">
            <a:spAutoFit/>
          </a:bodyPr>
          <a:lstStyle/>
          <a:p>
            <a:r>
              <a:rPr lang="en-IN" sz="2000" b="1" dirty="0">
                <a:solidFill>
                  <a:srgbClr val="0070C0"/>
                </a:solidFill>
              </a:rPr>
              <a:t>Conclusion</a:t>
            </a:r>
            <a:r>
              <a:rPr lang="en-IN" sz="2000" dirty="0"/>
              <a:t> :The feature distributions reveal that most customers have low balances, infrequent purchases, avoid cash advances, and often do not pay their full balances. These patterns help us understand and cluster user </a:t>
            </a:r>
            <a:r>
              <a:rPr lang="en-IN" sz="2000" dirty="0" err="1"/>
              <a:t>behavior</a:t>
            </a:r>
            <a:r>
              <a:rPr lang="en-IN" sz="2000" dirty="0"/>
              <a:t> effectively for segmentation</a:t>
            </a:r>
          </a:p>
        </p:txBody>
      </p:sp>
      <p:sp>
        <p:nvSpPr>
          <p:cNvPr id="5" name="TextBox 4">
            <a:extLst>
              <a:ext uri="{FF2B5EF4-FFF2-40B4-BE49-F238E27FC236}">
                <a16:creationId xmlns:a16="http://schemas.microsoft.com/office/drawing/2014/main" id="{C8385FF9-2494-791D-9388-2DD176804388}"/>
              </a:ext>
            </a:extLst>
          </p:cNvPr>
          <p:cNvSpPr txBox="1"/>
          <p:nvPr/>
        </p:nvSpPr>
        <p:spPr>
          <a:xfrm>
            <a:off x="107673" y="167291"/>
            <a:ext cx="11738113" cy="4832092"/>
          </a:xfrm>
          <a:prstGeom prst="rect">
            <a:avLst/>
          </a:prstGeom>
          <a:noFill/>
        </p:spPr>
        <p:txBody>
          <a:bodyPr wrap="square">
            <a:spAutoFit/>
          </a:bodyPr>
          <a:lstStyle/>
          <a:p>
            <a:r>
              <a:rPr lang="en-IN" sz="2800" b="1" dirty="0">
                <a:solidFill>
                  <a:srgbClr val="002060"/>
                </a:solidFill>
              </a:rPr>
              <a:t>4. CREDIT &amp; PAYMENT BEHAVIORCREDIT_LIMIT</a:t>
            </a:r>
            <a:r>
              <a:rPr lang="en-IN" sz="2800" dirty="0">
                <a:solidFill>
                  <a:srgbClr val="002060"/>
                </a:solidFill>
              </a:rPr>
              <a:t>: </a:t>
            </a:r>
            <a:r>
              <a:rPr lang="en-IN" sz="2800" dirty="0"/>
              <a:t>Right-skewed – most customers have modest credit limits, a few have very high limits.PAYMENTS &amp; MINIMUM_PAYMENTS:Majority of customers pay small amounts – may indicate either responsible usage or lower usage overall.Spikes near 0 in minimum payments suggest some customers may miss due payments.</a:t>
            </a:r>
          </a:p>
          <a:p>
            <a:r>
              <a:rPr lang="en-IN" sz="2800" b="1" dirty="0">
                <a:solidFill>
                  <a:srgbClr val="002060"/>
                </a:solidFill>
              </a:rPr>
              <a:t>5. FULL PAYMENT RATIO </a:t>
            </a:r>
            <a:r>
              <a:rPr lang="en-IN" sz="2800" dirty="0"/>
              <a:t>(PRC_FULL_PAYMENT)Values concentrated near 0 – majority of users don’t pay their balance in full.Can be used to identify potentially risky or interest-paying customers.</a:t>
            </a:r>
          </a:p>
          <a:p>
            <a:r>
              <a:rPr lang="en-IN" sz="2800" b="1" dirty="0">
                <a:solidFill>
                  <a:srgbClr val="002060"/>
                </a:solidFill>
              </a:rPr>
              <a:t>6. TENURE </a:t>
            </a:r>
            <a:r>
              <a:rPr lang="en-IN" sz="2800" b="1" dirty="0"/>
              <a:t> </a:t>
            </a:r>
            <a:r>
              <a:rPr lang="en-IN" sz="2800" dirty="0"/>
              <a:t>Majority of customers have a tenure of 12 months – indicating that data might be collected on an annual basis, or most users are relatively new but stable.</a:t>
            </a:r>
          </a:p>
        </p:txBody>
      </p:sp>
    </p:spTree>
    <p:extLst>
      <p:ext uri="{BB962C8B-B14F-4D97-AF65-F5344CB8AC3E}">
        <p14:creationId xmlns:p14="http://schemas.microsoft.com/office/powerpoint/2010/main" val="331717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40951-FED1-5FE3-8BDB-FEBFA968C8DD}"/>
              </a:ext>
            </a:extLst>
          </p:cNvPr>
          <p:cNvSpPr>
            <a:spLocks noGrp="1"/>
          </p:cNvSpPr>
          <p:nvPr>
            <p:ph type="title"/>
          </p:nvPr>
        </p:nvSpPr>
        <p:spPr>
          <a:xfrm>
            <a:off x="394527" y="335997"/>
            <a:ext cx="4515403" cy="1383473"/>
          </a:xfrm>
        </p:spPr>
        <p:txBody>
          <a:bodyPr>
            <a:normAutofit fontScale="90000"/>
          </a:bodyPr>
          <a:lstStyle/>
          <a:p>
            <a:r>
              <a:rPr lang="en-IN" b="1" dirty="0">
                <a:solidFill>
                  <a:srgbClr val="0070C0"/>
                </a:solidFill>
                <a:latin typeface="+mn-lt"/>
              </a:rPr>
              <a:t>Correlation heatmap</a:t>
            </a:r>
          </a:p>
        </p:txBody>
      </p:sp>
      <p:sp>
        <p:nvSpPr>
          <p:cNvPr id="3" name="Text Placeholder 2">
            <a:extLst>
              <a:ext uri="{FF2B5EF4-FFF2-40B4-BE49-F238E27FC236}">
                <a16:creationId xmlns:a16="http://schemas.microsoft.com/office/drawing/2014/main" id="{FE40D1A4-5ABA-2513-6D25-CEFE39068C00}"/>
              </a:ext>
            </a:extLst>
          </p:cNvPr>
          <p:cNvSpPr>
            <a:spLocks noGrp="1"/>
          </p:cNvSpPr>
          <p:nvPr>
            <p:ph type="body" idx="1"/>
          </p:nvPr>
        </p:nvSpPr>
        <p:spPr>
          <a:xfrm>
            <a:off x="394527" y="1719469"/>
            <a:ext cx="4684369" cy="4370181"/>
          </a:xfrm>
        </p:spPr>
        <p:txBody>
          <a:bodyPr/>
          <a:lstStyle/>
          <a:p>
            <a:r>
              <a:rPr lang="en-US" b="1" dirty="0">
                <a:solidFill>
                  <a:srgbClr val="002060"/>
                </a:solidFill>
              </a:rPr>
              <a:t>Purpose</a:t>
            </a:r>
            <a:r>
              <a:rPr lang="en-US" b="1" dirty="0"/>
              <a:t> </a:t>
            </a:r>
          </a:p>
          <a:p>
            <a:r>
              <a:rPr lang="en-US" dirty="0"/>
              <a:t>The heatmap displays </a:t>
            </a:r>
            <a:r>
              <a:rPr lang="en-US" b="1" dirty="0"/>
              <a:t>Pearson correlation coefficients</a:t>
            </a:r>
            <a:r>
              <a:rPr lang="en-US" dirty="0"/>
              <a:t> between all pairs of features.</a:t>
            </a:r>
          </a:p>
          <a:p>
            <a:r>
              <a:rPr lang="en-US" b="1" dirty="0">
                <a:solidFill>
                  <a:srgbClr val="002060"/>
                </a:solidFill>
              </a:rPr>
              <a:t>Color scale</a:t>
            </a:r>
            <a:r>
              <a:rPr lang="en-US" dirty="0">
                <a:solidFill>
                  <a:srgbClr val="002060"/>
                </a:solidFill>
              </a:rPr>
              <a:t>:</a:t>
            </a:r>
          </a:p>
          <a:p>
            <a:pPr lvl="1"/>
            <a:r>
              <a:rPr lang="en-US" dirty="0"/>
              <a:t>🔴 Red indicates </a:t>
            </a:r>
            <a:r>
              <a:rPr lang="en-US" b="1" dirty="0"/>
              <a:t>strong positive correlation</a:t>
            </a:r>
            <a:endParaRPr lang="en-US" dirty="0"/>
          </a:p>
          <a:p>
            <a:pPr lvl="1"/>
            <a:r>
              <a:rPr lang="en-US" dirty="0"/>
              <a:t>🔵 Blue indicates </a:t>
            </a:r>
            <a:r>
              <a:rPr lang="en-US" b="1" dirty="0"/>
              <a:t>strong negative correlation</a:t>
            </a:r>
            <a:endParaRPr lang="en-US" dirty="0"/>
          </a:p>
          <a:p>
            <a:pPr lvl="1"/>
            <a:r>
              <a:rPr lang="en-US" dirty="0"/>
              <a:t>Values close to 0 indicate </a:t>
            </a:r>
            <a:r>
              <a:rPr lang="en-US" b="1" dirty="0"/>
              <a:t>weak or no correlation</a:t>
            </a:r>
            <a:endParaRPr lang="en-US" dirty="0"/>
          </a:p>
        </p:txBody>
      </p:sp>
      <p:pic>
        <p:nvPicPr>
          <p:cNvPr id="5" name="Picture 4">
            <a:extLst>
              <a:ext uri="{FF2B5EF4-FFF2-40B4-BE49-F238E27FC236}">
                <a16:creationId xmlns:a16="http://schemas.microsoft.com/office/drawing/2014/main" id="{2EC475C6-94E6-8957-584A-FF42336B321F}"/>
              </a:ext>
            </a:extLst>
          </p:cNvPr>
          <p:cNvPicPr>
            <a:picLocks noChangeAspect="1"/>
          </p:cNvPicPr>
          <p:nvPr/>
        </p:nvPicPr>
        <p:blipFill>
          <a:blip r:embed="rId2">
            <a:extLst>
              <a:ext uri="{28A0092B-C50C-407E-A947-70E740481C1C}">
                <a14:useLocalDpi xmlns:a14="http://schemas.microsoft.com/office/drawing/2010/main" val="0"/>
              </a:ext>
            </a:extLst>
          </a:blip>
          <a:srcRect l="26573" t="21330" r="28884"/>
          <a:stretch>
            <a:fillRect/>
          </a:stretch>
        </p:blipFill>
        <p:spPr>
          <a:xfrm>
            <a:off x="5078896" y="31208"/>
            <a:ext cx="6718577" cy="6161700"/>
          </a:xfrm>
          <a:prstGeom prst="rect">
            <a:avLst/>
          </a:prstGeom>
        </p:spPr>
      </p:pic>
    </p:spTree>
    <p:extLst>
      <p:ext uri="{BB962C8B-B14F-4D97-AF65-F5344CB8AC3E}">
        <p14:creationId xmlns:p14="http://schemas.microsoft.com/office/powerpoint/2010/main" val="412036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F7F5B92-4D9D-EF18-FDC4-A781160BF7E2}"/>
              </a:ext>
            </a:extLst>
          </p:cNvPr>
          <p:cNvSpPr>
            <a:spLocks noChangeArrowheads="1"/>
          </p:cNvSpPr>
          <p:nvPr/>
        </p:nvSpPr>
        <p:spPr bwMode="auto">
          <a:xfrm>
            <a:off x="815009" y="2661087"/>
            <a:ext cx="969065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EA5383D6-400B-9190-45B3-524A15CABC2D}"/>
              </a:ext>
            </a:extLst>
          </p:cNvPr>
          <p:cNvSpPr>
            <a:spLocks noChangeArrowheads="1"/>
          </p:cNvSpPr>
          <p:nvPr/>
        </p:nvSpPr>
        <p:spPr bwMode="auto">
          <a:xfrm>
            <a:off x="387626" y="205754"/>
            <a:ext cx="11529391" cy="59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2060"/>
                </a:solidFill>
                <a:effectLst/>
                <a:latin typeface="Arial" panose="020B0604020202020204" pitchFamily="34" charset="0"/>
              </a:rPr>
              <a:t>1. Strong Positive Correlations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Unicode MS"/>
              </a:rPr>
              <a:t>PURCHASES</a:t>
            </a:r>
            <a:r>
              <a:rPr kumimoji="0" lang="en-US" altLang="en-US" sz="800" b="0" i="0" u="none" strike="noStrike" cap="none" normalizeH="0" baseline="0" dirty="0">
                <a:ln>
                  <a:noFill/>
                </a:ln>
                <a:solidFill>
                  <a:schemeClr val="tx1"/>
                </a:solidFill>
                <a:effectLst/>
              </a:rPr>
              <a:t> and </a:t>
            </a:r>
            <a:r>
              <a:rPr kumimoji="0" lang="en-US" altLang="en-US" sz="1000" b="0" i="0" u="none" strike="noStrike" cap="none" normalizeH="0" baseline="0" dirty="0">
                <a:ln>
                  <a:noFill/>
                </a:ln>
                <a:solidFill>
                  <a:schemeClr val="tx1"/>
                </a:solidFill>
                <a:effectLst/>
                <a:latin typeface="Arial Unicode MS"/>
              </a:rPr>
              <a:t>ONEOFF_PURCHASES</a:t>
            </a:r>
            <a:r>
              <a:rPr kumimoji="0" lang="en-US" altLang="en-US" sz="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panose="020B0604020202020204" pitchFamily="34" charset="0"/>
              </a:rPr>
              <a:t>0.92</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Indicates that customers who make purchases also tend to make one-off purchases.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Unicode MS"/>
              </a:rPr>
              <a:t>INSTALLMENTS_PURCHASES</a:t>
            </a:r>
            <a:r>
              <a:rPr kumimoji="0" lang="en-US" altLang="en-US" sz="800" b="0" i="0" u="none" strike="noStrike" cap="none" normalizeH="0" baseline="0" dirty="0">
                <a:ln>
                  <a:noFill/>
                </a:ln>
                <a:solidFill>
                  <a:schemeClr val="tx1"/>
                </a:solidFill>
                <a:effectLst/>
              </a:rPr>
              <a:t> and </a:t>
            </a:r>
            <a:r>
              <a:rPr kumimoji="0" lang="en-US" altLang="en-US" sz="1000" b="0" i="0" u="none" strike="noStrike" cap="none" normalizeH="0" baseline="0" dirty="0">
                <a:ln>
                  <a:noFill/>
                </a:ln>
                <a:solidFill>
                  <a:schemeClr val="tx1"/>
                </a:solidFill>
                <a:effectLst/>
                <a:latin typeface="Arial Unicode MS"/>
              </a:rPr>
              <a:t>PURCHASES</a:t>
            </a:r>
            <a:r>
              <a:rPr kumimoji="0" lang="en-US" altLang="en-US" sz="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panose="020B0604020202020204" pitchFamily="34" charset="0"/>
              </a:rPr>
              <a:t>0.68</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EMI purchases are a major contributor to total purchases.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Unicode MS"/>
              </a:rPr>
              <a:t>PURCHASES</a:t>
            </a:r>
            <a:r>
              <a:rPr kumimoji="0" lang="en-US" altLang="en-US" sz="800" b="0" i="0" u="none" strike="noStrike" cap="none" normalizeH="0" baseline="0" dirty="0">
                <a:ln>
                  <a:noFill/>
                </a:ln>
                <a:solidFill>
                  <a:schemeClr val="tx1"/>
                </a:solidFill>
                <a:effectLst/>
              </a:rPr>
              <a:t> and </a:t>
            </a:r>
            <a:r>
              <a:rPr kumimoji="0" lang="en-US" altLang="en-US" sz="1000" b="0" i="0" u="none" strike="noStrike" cap="none" normalizeH="0" baseline="0" dirty="0">
                <a:ln>
                  <a:noFill/>
                </a:ln>
                <a:solidFill>
                  <a:schemeClr val="tx1"/>
                </a:solidFill>
                <a:effectLst/>
                <a:latin typeface="Arial Unicode MS"/>
              </a:rPr>
              <a:t>TOTAL_SPEND</a:t>
            </a:r>
            <a:r>
              <a:rPr kumimoji="0" lang="en-US" altLang="en-US" sz="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panose="020B0604020202020204" pitchFamily="34" charset="0"/>
              </a:rPr>
              <a:t>0.70</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Logical, as purchases significantly impact total spend.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Unicode MS"/>
              </a:rPr>
              <a:t>CREDIT_LIMIT</a:t>
            </a:r>
            <a:r>
              <a:rPr kumimoji="0" lang="en-US" altLang="en-US" sz="800" b="0" i="0" u="none" strike="noStrike" cap="none" normalizeH="0" baseline="0" dirty="0">
                <a:ln>
                  <a:noFill/>
                </a:ln>
                <a:solidFill>
                  <a:schemeClr val="tx1"/>
                </a:solidFill>
                <a:effectLst/>
              </a:rPr>
              <a:t> and </a:t>
            </a:r>
            <a:r>
              <a:rPr kumimoji="0" lang="en-US" altLang="en-US" sz="1000" b="0" i="0" u="none" strike="noStrike" cap="none" normalizeH="0" baseline="0" dirty="0">
                <a:ln>
                  <a:noFill/>
                </a:ln>
                <a:solidFill>
                  <a:schemeClr val="tx1"/>
                </a:solidFill>
                <a:effectLst/>
                <a:latin typeface="Arial Unicode MS"/>
              </a:rPr>
              <a:t>BALANCE</a:t>
            </a:r>
            <a:r>
              <a:rPr kumimoji="0" lang="en-US" altLang="en-US" sz="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panose="020B0604020202020204" pitchFamily="34" charset="0"/>
              </a:rPr>
              <a:t>0.54</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Higher credit limits are associated with higher balances.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Unicode MS"/>
              </a:rPr>
              <a:t>PURCHASES</a:t>
            </a:r>
            <a:r>
              <a:rPr kumimoji="0" lang="en-US" altLang="en-US" sz="800" b="0" i="0" u="none" strike="noStrike" cap="none" normalizeH="0" baseline="0" dirty="0">
                <a:ln>
                  <a:noFill/>
                </a:ln>
                <a:solidFill>
                  <a:schemeClr val="tx1"/>
                </a:solidFill>
                <a:effectLst/>
              </a:rPr>
              <a:t> and </a:t>
            </a:r>
            <a:r>
              <a:rPr kumimoji="0" lang="en-US" altLang="en-US" sz="1000" b="0" i="0" u="none" strike="noStrike" cap="none" normalizeH="0" baseline="0" dirty="0">
                <a:ln>
                  <a:noFill/>
                </a:ln>
                <a:solidFill>
                  <a:schemeClr val="tx1"/>
                </a:solidFill>
                <a:effectLst/>
                <a:latin typeface="Arial Unicode MS"/>
              </a:rPr>
              <a:t>PURCHASES_TRX</a:t>
            </a:r>
            <a:r>
              <a:rPr kumimoji="0" lang="en-US" altLang="en-US" sz="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panose="020B0604020202020204" pitchFamily="34" charset="0"/>
              </a:rPr>
              <a:t>0.63</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2060"/>
                </a:solidFill>
                <a:effectLst/>
                <a:latin typeface="Arial" panose="020B0604020202020204" pitchFamily="34" charset="0"/>
              </a:rPr>
              <a:t>More transaction count → more spending.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1" i="0" u="none" strike="noStrike" cap="none" normalizeH="0" baseline="0" dirty="0">
              <a:ln>
                <a:noFill/>
              </a:ln>
              <a:solidFill>
                <a:srgbClr val="00206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2060"/>
                </a:solidFill>
                <a:effectLst/>
                <a:latin typeface="Arial" panose="020B0604020202020204" pitchFamily="34" charset="0"/>
              </a:rPr>
              <a:t>2. Negative Correlations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Unicode MS"/>
              </a:rPr>
              <a:t>BALANCE</a:t>
            </a:r>
            <a:r>
              <a:rPr kumimoji="0" lang="en-US" altLang="en-US" sz="800" b="0" i="0" u="none" strike="noStrike" cap="none" normalizeH="0" baseline="0" dirty="0">
                <a:ln>
                  <a:noFill/>
                </a:ln>
                <a:solidFill>
                  <a:schemeClr val="tx1"/>
                </a:solidFill>
                <a:effectLst/>
              </a:rPr>
              <a:t> and </a:t>
            </a:r>
            <a:r>
              <a:rPr kumimoji="0" lang="en-US" altLang="en-US" sz="1000" b="0" i="0" u="none" strike="noStrike" cap="none" normalizeH="0" baseline="0" dirty="0">
                <a:ln>
                  <a:noFill/>
                </a:ln>
                <a:solidFill>
                  <a:schemeClr val="tx1"/>
                </a:solidFill>
                <a:effectLst/>
                <a:latin typeface="Arial Unicode MS"/>
              </a:rPr>
              <a:t>PRC_FULL_PAYMENT</a:t>
            </a:r>
            <a:r>
              <a:rPr kumimoji="0" lang="en-US" altLang="en-US" sz="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panose="020B0604020202020204" pitchFamily="34" charset="0"/>
              </a:rPr>
              <a:t>-0.33</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Customers with higher balances are less likely to pay their full amount.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Unicode MS"/>
              </a:rPr>
              <a:t>BALANCE</a:t>
            </a:r>
            <a:r>
              <a:rPr kumimoji="0" lang="en-US" altLang="en-US" sz="800" b="0" i="0" u="none" strike="noStrike" cap="none" normalizeH="0" baseline="0" dirty="0">
                <a:ln>
                  <a:noFill/>
                </a:ln>
                <a:solidFill>
                  <a:schemeClr val="tx1"/>
                </a:solidFill>
                <a:effectLst/>
              </a:rPr>
              <a:t> and </a:t>
            </a:r>
            <a:r>
              <a:rPr kumimoji="0" lang="en-US" altLang="en-US" sz="1000" b="0" i="0" u="none" strike="noStrike" cap="none" normalizeH="0" baseline="0" dirty="0">
                <a:ln>
                  <a:noFill/>
                </a:ln>
                <a:solidFill>
                  <a:schemeClr val="tx1"/>
                </a:solidFill>
                <a:effectLst/>
                <a:latin typeface="Arial Unicode MS"/>
              </a:rPr>
              <a:t>CASH_ADVANCE</a:t>
            </a:r>
            <a:r>
              <a:rPr kumimoji="0" lang="en-US" altLang="en-US" sz="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panose="020B0604020202020204" pitchFamily="34" charset="0"/>
              </a:rPr>
              <a:t>-0.50</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May suggest people with high balances are not frequent users of cash advances.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Unicode MS"/>
              </a:rPr>
              <a:t>BALANCE_TO_LIMIT_RATIO</a:t>
            </a:r>
            <a:r>
              <a:rPr kumimoji="0" lang="en-US" altLang="en-US" sz="800" b="0" i="0" u="none" strike="noStrike" cap="none" normalizeH="0" baseline="0" dirty="0">
                <a:ln>
                  <a:noFill/>
                </a:ln>
                <a:solidFill>
                  <a:schemeClr val="tx1"/>
                </a:solidFill>
                <a:effectLst/>
              </a:rPr>
              <a:t> has: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Positive correlation with </a:t>
            </a:r>
            <a:r>
              <a:rPr kumimoji="0" lang="en-US" altLang="en-US" sz="1000" b="0" i="0" u="none" strike="noStrike" cap="none" normalizeH="0" baseline="0" dirty="0">
                <a:ln>
                  <a:noFill/>
                </a:ln>
                <a:solidFill>
                  <a:schemeClr val="tx1"/>
                </a:solidFill>
                <a:effectLst/>
                <a:latin typeface="Arial Unicode MS"/>
              </a:rPr>
              <a:t>BALANCE</a:t>
            </a:r>
            <a:r>
              <a:rPr kumimoji="0" lang="en-US" altLang="en-US" sz="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panose="020B0604020202020204" pitchFamily="34" charset="0"/>
              </a:rPr>
              <a:t>0.49</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Negative correlation with </a:t>
            </a:r>
            <a:r>
              <a:rPr kumimoji="0" lang="en-US" altLang="en-US" sz="1000" b="0" i="0" u="none" strike="noStrike" cap="none" normalizeH="0" baseline="0" dirty="0">
                <a:ln>
                  <a:noFill/>
                </a:ln>
                <a:solidFill>
                  <a:schemeClr val="tx1"/>
                </a:solidFill>
                <a:effectLst/>
                <a:latin typeface="Arial Unicode MS"/>
              </a:rPr>
              <a:t>PRC_FULL_PAYMENT</a:t>
            </a:r>
            <a:r>
              <a:rPr kumimoji="0" lang="en-US" altLang="en-US" sz="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Arial" panose="020B0604020202020204" pitchFamily="34" charset="0"/>
              </a:rPr>
              <a:t>-0.44</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Indicates that high utilization ratio customers usually </a:t>
            </a:r>
            <a:r>
              <a:rPr kumimoji="0" lang="en-US" altLang="en-US" sz="1800" b="1" i="0" u="none" strike="noStrike" cap="none" normalizeH="0" baseline="0" dirty="0">
                <a:ln>
                  <a:noFill/>
                </a:ln>
                <a:solidFill>
                  <a:schemeClr val="tx1"/>
                </a:solidFill>
                <a:effectLst/>
                <a:latin typeface="Arial" panose="020B0604020202020204" pitchFamily="34" charset="0"/>
              </a:rPr>
              <a:t>don’t pay in full</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4333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A039FBD-0AB0-23F8-D860-28BB1FF11D4B}"/>
              </a:ext>
            </a:extLst>
          </p:cNvPr>
          <p:cNvSpPr>
            <a:spLocks noGrp="1"/>
          </p:cNvSpPr>
          <p:nvPr>
            <p:ph type="body" idx="1"/>
          </p:nvPr>
        </p:nvSpPr>
        <p:spPr>
          <a:xfrm>
            <a:off x="708991" y="397566"/>
            <a:ext cx="10644809" cy="3737112"/>
          </a:xfrm>
        </p:spPr>
        <p:txBody>
          <a:bodyPr>
            <a:normAutofit lnSpcReduction="10000"/>
          </a:bodyPr>
          <a:lstStyle/>
          <a:p>
            <a:pPr lvl="0" eaLnBrk="0" fontAlgn="base" hangingPunct="0">
              <a:lnSpc>
                <a:spcPct val="100000"/>
              </a:lnSpc>
              <a:spcBef>
                <a:spcPct val="0"/>
              </a:spcBef>
              <a:spcAft>
                <a:spcPct val="0"/>
              </a:spcAft>
            </a:pPr>
            <a:r>
              <a:rPr lang="en-US" altLang="en-US" sz="2200" b="1" dirty="0">
                <a:solidFill>
                  <a:srgbClr val="002060"/>
                </a:solidFill>
                <a:latin typeface="Arial" panose="020B0604020202020204" pitchFamily="34" charset="0"/>
              </a:rPr>
              <a:t>3. Moderate Relationships</a:t>
            </a:r>
          </a:p>
          <a:p>
            <a:pPr lvl="0" eaLnBrk="0" fontAlgn="base" hangingPunct="0">
              <a:lnSpc>
                <a:spcPct val="100000"/>
              </a:lnSpc>
              <a:spcBef>
                <a:spcPct val="0"/>
              </a:spcBef>
              <a:spcAft>
                <a:spcPct val="0"/>
              </a:spcAft>
            </a:pPr>
            <a:endParaRPr lang="en-US" altLang="en-US" sz="2200" dirty="0">
              <a:solidFill>
                <a:schemeClr val="tx1"/>
              </a:solidFill>
              <a:latin typeface="Arial Unicode MS"/>
            </a:endParaRPr>
          </a:p>
          <a:p>
            <a:pPr marL="342900" lvl="0" indent="-342900" eaLnBrk="0" fontAlgn="base" hangingPunct="0">
              <a:lnSpc>
                <a:spcPct val="100000"/>
              </a:lnSpc>
              <a:spcBef>
                <a:spcPct val="0"/>
              </a:spcBef>
              <a:spcAft>
                <a:spcPct val="0"/>
              </a:spcAft>
              <a:buFont typeface="Arial" panose="020B0604020202020204" pitchFamily="34" charset="0"/>
              <a:buChar char="•"/>
            </a:pPr>
            <a:r>
              <a:rPr lang="en-US" altLang="en-US" sz="2200" dirty="0">
                <a:solidFill>
                  <a:schemeClr val="tx1"/>
                </a:solidFill>
                <a:latin typeface="Arial Unicode MS"/>
              </a:rPr>
              <a:t>MINIMUM_PAYMENTS</a:t>
            </a:r>
            <a:r>
              <a:rPr lang="en-US" altLang="en-US" sz="2200" dirty="0">
                <a:solidFill>
                  <a:schemeClr val="tx1"/>
                </a:solidFill>
              </a:rPr>
              <a:t> and </a:t>
            </a:r>
            <a:r>
              <a:rPr lang="en-US" altLang="en-US" sz="2200" dirty="0">
                <a:solidFill>
                  <a:schemeClr val="tx1"/>
                </a:solidFill>
                <a:latin typeface="Arial Unicode MS"/>
              </a:rPr>
              <a:t>PAYMENTS</a:t>
            </a:r>
            <a:r>
              <a:rPr lang="en-US" altLang="en-US" sz="2200" dirty="0">
                <a:solidFill>
                  <a:schemeClr val="tx1"/>
                </a:solidFill>
              </a:rPr>
              <a:t>: </a:t>
            </a:r>
            <a:r>
              <a:rPr lang="en-US" altLang="en-US" sz="2200" b="1" dirty="0">
                <a:solidFill>
                  <a:schemeClr val="tx1"/>
                </a:solidFill>
                <a:latin typeface="Arial" panose="020B0604020202020204" pitchFamily="34" charset="0"/>
              </a:rPr>
              <a:t>0.78</a:t>
            </a:r>
          </a:p>
          <a:p>
            <a:pPr marL="342900" lvl="0" indent="-342900" eaLnBrk="0" fontAlgn="base" hangingPunct="0">
              <a:lnSpc>
                <a:spcPct val="100000"/>
              </a:lnSpc>
              <a:spcBef>
                <a:spcPct val="0"/>
              </a:spcBef>
              <a:spcAft>
                <a:spcPct val="0"/>
              </a:spcAft>
              <a:buFont typeface="Arial" panose="020B0604020202020204" pitchFamily="34" charset="0"/>
              <a:buChar char="•"/>
            </a:pPr>
            <a:r>
              <a:rPr lang="en-US" altLang="en-US" sz="2200" dirty="0">
                <a:solidFill>
                  <a:schemeClr val="tx1"/>
                </a:solidFill>
                <a:latin typeface="Arial" panose="020B0604020202020204" pitchFamily="34" charset="0"/>
              </a:rPr>
              <a:t>People who pay more also tend to meet or exceed minimum payments.</a:t>
            </a:r>
          </a:p>
          <a:p>
            <a:pPr marL="342900" lvl="0" indent="-342900" eaLnBrk="0" fontAlgn="base" hangingPunct="0">
              <a:lnSpc>
                <a:spcPct val="100000"/>
              </a:lnSpc>
              <a:spcBef>
                <a:spcPct val="0"/>
              </a:spcBef>
              <a:spcAft>
                <a:spcPct val="0"/>
              </a:spcAft>
              <a:buFont typeface="Arial" panose="020B0604020202020204" pitchFamily="34" charset="0"/>
              <a:buChar char="•"/>
            </a:pPr>
            <a:r>
              <a:rPr lang="en-US" altLang="en-US" sz="2200" dirty="0">
                <a:solidFill>
                  <a:schemeClr val="tx1"/>
                </a:solidFill>
                <a:latin typeface="Arial Unicode MS"/>
              </a:rPr>
              <a:t>ONEOFF_PURCHASES_FREQUENCY</a:t>
            </a:r>
            <a:r>
              <a:rPr lang="en-US" altLang="en-US" sz="2200" dirty="0">
                <a:solidFill>
                  <a:schemeClr val="tx1"/>
                </a:solidFill>
              </a:rPr>
              <a:t> and </a:t>
            </a:r>
            <a:r>
              <a:rPr lang="en-US" altLang="en-US" sz="2200" dirty="0">
                <a:solidFill>
                  <a:schemeClr val="tx1"/>
                </a:solidFill>
                <a:latin typeface="Arial Unicode MS"/>
              </a:rPr>
              <a:t>PURCHASES_FREQUENCY</a:t>
            </a:r>
            <a:r>
              <a:rPr lang="en-US" altLang="en-US" sz="2200" dirty="0">
                <a:solidFill>
                  <a:schemeClr val="tx1"/>
                </a:solidFill>
              </a:rPr>
              <a:t>: </a:t>
            </a:r>
            <a:r>
              <a:rPr lang="en-US" altLang="en-US" sz="2200" b="1" dirty="0">
                <a:solidFill>
                  <a:schemeClr val="tx1"/>
                </a:solidFill>
                <a:latin typeface="Arial" panose="020B0604020202020204" pitchFamily="34" charset="0"/>
              </a:rPr>
              <a:t>0.52</a:t>
            </a:r>
          </a:p>
          <a:p>
            <a:pPr marL="342900" lvl="0" indent="-342900" eaLnBrk="0" fontAlgn="base" hangingPunct="0">
              <a:lnSpc>
                <a:spcPct val="100000"/>
              </a:lnSpc>
              <a:spcBef>
                <a:spcPct val="0"/>
              </a:spcBef>
              <a:spcAft>
                <a:spcPct val="0"/>
              </a:spcAft>
              <a:buFont typeface="Arial" panose="020B0604020202020204" pitchFamily="34" charset="0"/>
              <a:buChar char="•"/>
            </a:pPr>
            <a:r>
              <a:rPr lang="en-US" altLang="en-US" sz="2200" dirty="0">
                <a:solidFill>
                  <a:schemeClr val="tx1"/>
                </a:solidFill>
                <a:latin typeface="Arial" panose="020B0604020202020204" pitchFamily="34" charset="0"/>
              </a:rPr>
              <a:t>Frequency of general purchases and one-off purchases tend to rise together.</a:t>
            </a:r>
          </a:p>
          <a:p>
            <a:pPr lvl="0" eaLnBrk="0" fontAlgn="base" hangingPunct="0">
              <a:lnSpc>
                <a:spcPct val="100000"/>
              </a:lnSpc>
              <a:spcBef>
                <a:spcPct val="0"/>
              </a:spcBef>
              <a:spcAft>
                <a:spcPct val="0"/>
              </a:spcAft>
            </a:pPr>
            <a:endParaRPr lang="en-US" altLang="en-US" sz="2200" b="1" dirty="0">
              <a:solidFill>
                <a:schemeClr val="tx1"/>
              </a:solidFill>
              <a:latin typeface="Arial" panose="020B0604020202020204" pitchFamily="34" charset="0"/>
            </a:endParaRPr>
          </a:p>
          <a:p>
            <a:pPr lvl="0" eaLnBrk="0" fontAlgn="base" hangingPunct="0">
              <a:lnSpc>
                <a:spcPct val="100000"/>
              </a:lnSpc>
              <a:spcBef>
                <a:spcPct val="0"/>
              </a:spcBef>
              <a:spcAft>
                <a:spcPct val="0"/>
              </a:spcAft>
            </a:pPr>
            <a:r>
              <a:rPr lang="en-US" altLang="en-US" sz="2200" b="1" dirty="0">
                <a:solidFill>
                  <a:srgbClr val="002060"/>
                </a:solidFill>
                <a:latin typeface="Arial" panose="020B0604020202020204" pitchFamily="34" charset="0"/>
              </a:rPr>
              <a:t>4. Weak or No Correlation</a:t>
            </a:r>
          </a:p>
          <a:p>
            <a:pPr lvl="0" eaLnBrk="0" fontAlgn="base" hangingPunct="0">
              <a:lnSpc>
                <a:spcPct val="100000"/>
              </a:lnSpc>
              <a:spcBef>
                <a:spcPct val="0"/>
              </a:spcBef>
              <a:spcAft>
                <a:spcPct val="0"/>
              </a:spcAft>
            </a:pPr>
            <a:endParaRPr lang="en-US" altLang="en-US" sz="2200" b="1" dirty="0">
              <a:solidFill>
                <a:schemeClr val="tx1"/>
              </a:solidFill>
              <a:latin typeface="Arial" panose="020B0604020202020204" pitchFamily="34" charset="0"/>
            </a:endParaRPr>
          </a:p>
          <a:p>
            <a:pPr lvl="0" eaLnBrk="0" fontAlgn="base" hangingPunct="0">
              <a:lnSpc>
                <a:spcPct val="100000"/>
              </a:lnSpc>
              <a:spcBef>
                <a:spcPct val="0"/>
              </a:spcBef>
              <a:spcAft>
                <a:spcPct val="0"/>
              </a:spcAft>
              <a:buFontTx/>
              <a:buChar char="•"/>
            </a:pPr>
            <a:r>
              <a:rPr lang="en-US" altLang="en-US" sz="2200" dirty="0">
                <a:solidFill>
                  <a:schemeClr val="tx1"/>
                </a:solidFill>
                <a:latin typeface="Arial Unicode MS"/>
              </a:rPr>
              <a:t>   TENURE</a:t>
            </a:r>
            <a:r>
              <a:rPr lang="en-US" altLang="en-US" sz="2200" dirty="0">
                <a:solidFill>
                  <a:schemeClr val="tx1"/>
                </a:solidFill>
              </a:rPr>
              <a:t> is mostly uncorrelated with other variables.</a:t>
            </a:r>
          </a:p>
          <a:p>
            <a:pPr lvl="0" eaLnBrk="0" fontAlgn="base" hangingPunct="0">
              <a:lnSpc>
                <a:spcPct val="100000"/>
              </a:lnSpc>
              <a:spcBef>
                <a:spcPct val="0"/>
              </a:spcBef>
              <a:spcAft>
                <a:spcPct val="0"/>
              </a:spcAft>
              <a:buFontTx/>
              <a:buChar char="•"/>
            </a:pPr>
            <a:r>
              <a:rPr lang="en-US" altLang="en-US" sz="2200" dirty="0">
                <a:solidFill>
                  <a:schemeClr val="tx1"/>
                </a:solidFill>
                <a:latin typeface="Arial" panose="020B0604020202020204" pitchFamily="34" charset="0"/>
              </a:rPr>
              <a:t>  Suggests duration of association does not directly impact usage/spending patterns.</a:t>
            </a:r>
          </a:p>
          <a:p>
            <a:endParaRPr lang="en-IN" dirty="0"/>
          </a:p>
        </p:txBody>
      </p:sp>
      <p:sp>
        <p:nvSpPr>
          <p:cNvPr id="5" name="TextBox 4">
            <a:extLst>
              <a:ext uri="{FF2B5EF4-FFF2-40B4-BE49-F238E27FC236}">
                <a16:creationId xmlns:a16="http://schemas.microsoft.com/office/drawing/2014/main" id="{ECD4F2D7-FA05-2C79-904A-ADCAA1DF4644}"/>
              </a:ext>
            </a:extLst>
          </p:cNvPr>
          <p:cNvSpPr txBox="1"/>
          <p:nvPr/>
        </p:nvSpPr>
        <p:spPr>
          <a:xfrm>
            <a:off x="639417" y="4310412"/>
            <a:ext cx="10515600" cy="1323439"/>
          </a:xfrm>
          <a:prstGeom prst="rect">
            <a:avLst/>
          </a:prstGeom>
          <a:noFill/>
        </p:spPr>
        <p:txBody>
          <a:bodyPr wrap="square">
            <a:spAutoFit/>
          </a:bodyPr>
          <a:lstStyle/>
          <a:p>
            <a:pPr lvl="0" eaLnBrk="0" fontAlgn="base" hangingPunct="0">
              <a:spcBef>
                <a:spcPct val="0"/>
              </a:spcBef>
              <a:spcAft>
                <a:spcPct val="0"/>
              </a:spcAft>
            </a:pPr>
            <a:r>
              <a:rPr kumimoji="0" lang="en-US" altLang="en-US" sz="2000" b="1" i="0" u="none" strike="noStrike" cap="none" normalizeH="0" baseline="0" dirty="0">
                <a:ln>
                  <a:noFill/>
                </a:ln>
                <a:solidFill>
                  <a:srgbClr val="0070C0"/>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heatmap helps identify </a:t>
            </a:r>
            <a:r>
              <a:rPr kumimoji="0" lang="en-US" altLang="en-US" sz="2000" b="1" i="0" u="none" strike="noStrike" cap="none" normalizeH="0" baseline="0" dirty="0">
                <a:ln>
                  <a:noFill/>
                </a:ln>
                <a:solidFill>
                  <a:schemeClr val="tx1"/>
                </a:solidFill>
                <a:effectLst/>
                <a:latin typeface="Arial" panose="020B0604020202020204" pitchFamily="34" charset="0"/>
              </a:rPr>
              <a:t>between behavioral and financial attributes</a:t>
            </a:r>
            <a:r>
              <a:rPr kumimoji="0" lang="en-US" altLang="en-US" sz="2000" b="0" i="0" u="none" strike="noStrike" cap="none" normalizeH="0" baseline="0" dirty="0">
                <a:ln>
                  <a:noFill/>
                </a:ln>
                <a:solidFill>
                  <a:schemeClr val="tx1"/>
                </a:solidFill>
                <a:effectLst/>
                <a:latin typeface="Arial" panose="020B0604020202020204" pitchFamily="34" charset="0"/>
              </a:rPr>
              <a:t>. Highly correlated features can be considered for </a:t>
            </a:r>
            <a:r>
              <a:rPr kumimoji="0" lang="en-US" altLang="en-US" sz="2000" b="1" i="0" u="none" strike="noStrike" cap="none" normalizeH="0" baseline="0" dirty="0">
                <a:ln>
                  <a:noFill/>
                </a:ln>
                <a:solidFill>
                  <a:schemeClr val="tx1"/>
                </a:solidFill>
                <a:effectLst/>
                <a:latin typeface="Arial" panose="020B0604020202020204" pitchFamily="34" charset="0"/>
              </a:rPr>
              <a:t>dimensionality reduction</a:t>
            </a:r>
            <a:r>
              <a:rPr kumimoji="0" lang="en-US" altLang="en-US" sz="2000" b="0" i="0" u="none" strike="noStrike" cap="none" normalizeH="0" baseline="0" dirty="0">
                <a:ln>
                  <a:noFill/>
                </a:ln>
                <a:solidFill>
                  <a:schemeClr val="tx1"/>
                </a:solidFill>
                <a:effectLst/>
                <a:latin typeface="Arial" panose="020B0604020202020204" pitchFamily="34" charset="0"/>
              </a:rPr>
              <a:t> or deeper behavioral profiling in customer segmentation.</a:t>
            </a:r>
          </a:p>
        </p:txBody>
      </p:sp>
    </p:spTree>
    <p:extLst>
      <p:ext uri="{BB962C8B-B14F-4D97-AF65-F5344CB8AC3E}">
        <p14:creationId xmlns:p14="http://schemas.microsoft.com/office/powerpoint/2010/main" val="617462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2DA55-88B0-33D9-2B4C-3F9CEAB674C1}"/>
              </a:ext>
            </a:extLst>
          </p:cNvPr>
          <p:cNvSpPr>
            <a:spLocks noGrp="1"/>
          </p:cNvSpPr>
          <p:nvPr>
            <p:ph type="title"/>
          </p:nvPr>
        </p:nvSpPr>
        <p:spPr>
          <a:xfrm>
            <a:off x="503857" y="258417"/>
            <a:ext cx="4952723" cy="1331843"/>
          </a:xfrm>
        </p:spPr>
        <p:txBody>
          <a:bodyPr>
            <a:normAutofit/>
          </a:bodyPr>
          <a:lstStyle/>
          <a:p>
            <a:r>
              <a:rPr lang="en-IN" sz="6600" b="1" dirty="0">
                <a:solidFill>
                  <a:srgbClr val="0070C0"/>
                </a:solidFill>
              </a:rPr>
              <a:t>Boxplot</a:t>
            </a:r>
          </a:p>
        </p:txBody>
      </p:sp>
      <p:sp>
        <p:nvSpPr>
          <p:cNvPr id="3" name="Text Placeholder 2">
            <a:extLst>
              <a:ext uri="{FF2B5EF4-FFF2-40B4-BE49-F238E27FC236}">
                <a16:creationId xmlns:a16="http://schemas.microsoft.com/office/drawing/2014/main" id="{161A9FBD-4C42-3AF5-BA82-17B6FC6BC00B}"/>
              </a:ext>
            </a:extLst>
          </p:cNvPr>
          <p:cNvSpPr>
            <a:spLocks noGrp="1"/>
          </p:cNvSpPr>
          <p:nvPr>
            <p:ph type="body" idx="1"/>
          </p:nvPr>
        </p:nvSpPr>
        <p:spPr>
          <a:xfrm>
            <a:off x="503858" y="1709529"/>
            <a:ext cx="4952723" cy="4134680"/>
          </a:xfrm>
        </p:spPr>
        <p:txBody>
          <a:bodyPr>
            <a:normAutofit/>
          </a:bodyPr>
          <a:lstStyle/>
          <a:p>
            <a:r>
              <a:rPr lang="en-US" sz="2800" b="1" dirty="0">
                <a:solidFill>
                  <a:srgbClr val="002060"/>
                </a:solidFill>
              </a:rPr>
              <a:t>Purpose:</a:t>
            </a:r>
            <a:r>
              <a:rPr lang="en-US" sz="2800" b="1" dirty="0"/>
              <a:t> </a:t>
            </a:r>
          </a:p>
          <a:p>
            <a:r>
              <a:rPr lang="en-US" sz="2800" dirty="0"/>
              <a:t>Boxplots visually represent the </a:t>
            </a:r>
            <a:r>
              <a:rPr lang="en-US" sz="2800" b="1" dirty="0"/>
              <a:t>spread, median, and outliers</a:t>
            </a:r>
            <a:r>
              <a:rPr lang="en-US" sz="2800" dirty="0"/>
              <a:t> in each feature.</a:t>
            </a:r>
          </a:p>
          <a:p>
            <a:r>
              <a:rPr lang="en-US" sz="2800" dirty="0"/>
              <a:t>Useful to detect </a:t>
            </a:r>
            <a:r>
              <a:rPr lang="en-US" sz="2800" b="1" dirty="0"/>
              <a:t>skewness, variability</a:t>
            </a:r>
            <a:r>
              <a:rPr lang="en-US" sz="2800" dirty="0"/>
              <a:t>, and </a:t>
            </a:r>
            <a:r>
              <a:rPr lang="en-US" sz="2800" b="1" dirty="0"/>
              <a:t>extreme values</a:t>
            </a:r>
            <a:r>
              <a:rPr lang="en-US" sz="2800" dirty="0"/>
              <a:t> in customer data.</a:t>
            </a:r>
          </a:p>
          <a:p>
            <a:endParaRPr lang="en-US" sz="2800" dirty="0"/>
          </a:p>
          <a:p>
            <a:endParaRPr lang="en-IN" dirty="0"/>
          </a:p>
        </p:txBody>
      </p:sp>
      <p:pic>
        <p:nvPicPr>
          <p:cNvPr id="5" name="Picture 4">
            <a:extLst>
              <a:ext uri="{FF2B5EF4-FFF2-40B4-BE49-F238E27FC236}">
                <a16:creationId xmlns:a16="http://schemas.microsoft.com/office/drawing/2014/main" id="{BC7C9D9C-1EF0-1CB7-E3A1-BBEA0BC752F3}"/>
              </a:ext>
            </a:extLst>
          </p:cNvPr>
          <p:cNvPicPr>
            <a:picLocks noChangeAspect="1"/>
          </p:cNvPicPr>
          <p:nvPr/>
        </p:nvPicPr>
        <p:blipFill>
          <a:blip r:embed="rId2">
            <a:extLst>
              <a:ext uri="{28A0092B-C50C-407E-A947-70E740481C1C}">
                <a14:useLocalDpi xmlns:a14="http://schemas.microsoft.com/office/drawing/2010/main" val="0"/>
              </a:ext>
            </a:extLst>
          </a:blip>
          <a:srcRect l="18831" t="35754" r="27038" b="10691"/>
          <a:stretch>
            <a:fillRect/>
          </a:stretch>
        </p:blipFill>
        <p:spPr>
          <a:xfrm>
            <a:off x="5456580" y="1709529"/>
            <a:ext cx="6599583" cy="3606385"/>
          </a:xfrm>
          <a:prstGeom prst="rect">
            <a:avLst/>
          </a:prstGeom>
        </p:spPr>
      </p:pic>
    </p:spTree>
    <p:extLst>
      <p:ext uri="{BB962C8B-B14F-4D97-AF65-F5344CB8AC3E}">
        <p14:creationId xmlns:p14="http://schemas.microsoft.com/office/powerpoint/2010/main" val="365024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028812B-D62E-19D9-B537-C24CE479285B}"/>
              </a:ext>
            </a:extLst>
          </p:cNvPr>
          <p:cNvSpPr>
            <a:spLocks noGrp="1" noChangeArrowheads="1"/>
          </p:cNvSpPr>
          <p:nvPr>
            <p:ph type="body" idx="1"/>
          </p:nvPr>
        </p:nvSpPr>
        <p:spPr bwMode="auto">
          <a:xfrm>
            <a:off x="248478" y="475572"/>
            <a:ext cx="11579087" cy="5663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2060"/>
                </a:solidFill>
                <a:effectLst/>
                <a:latin typeface="Arial" panose="020B0604020202020204" pitchFamily="34" charset="0"/>
              </a:rPr>
              <a:t>1. High Skewness and Outliers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Features such as </a:t>
            </a:r>
            <a:r>
              <a:rPr kumimoji="0" lang="en-US" altLang="en-US" sz="2000" b="0" i="0" u="none" strike="noStrike" cap="none" normalizeH="0" baseline="0" dirty="0">
                <a:ln>
                  <a:noFill/>
                </a:ln>
                <a:solidFill>
                  <a:schemeClr val="tx1"/>
                </a:solidFill>
                <a:effectLst/>
                <a:latin typeface="Arial Unicode MS"/>
              </a:rPr>
              <a:t>PURCHASES</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ONEOFF_PURCHASES</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INSTALLMENTS_PURCHASES</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CASH_ADVANCE</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PAYMENTS</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a:ln>
                  <a:noFill/>
                </a:ln>
                <a:solidFill>
                  <a:schemeClr val="tx1"/>
                </a:solidFill>
                <a:effectLst/>
                <a:latin typeface="Arial Unicode MS"/>
              </a:rPr>
              <a:t>MINIMUM_PAYMENTS</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Have a </a:t>
            </a:r>
            <a:r>
              <a:rPr kumimoji="0" lang="en-US" altLang="en-US" b="1" i="0" u="none" strike="noStrike" cap="none" normalizeH="0" baseline="0" dirty="0">
                <a:ln>
                  <a:noFill/>
                </a:ln>
                <a:solidFill>
                  <a:schemeClr val="tx1"/>
                </a:solidFill>
                <a:effectLst/>
                <a:latin typeface="Arial" panose="020B0604020202020204" pitchFamily="34" charset="0"/>
              </a:rPr>
              <a:t>long upper whisker</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numerous outliers</a:t>
            </a:r>
            <a:r>
              <a:rPr kumimoji="0" lang="en-US" altLang="en-US"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Indicates </a:t>
            </a:r>
            <a:r>
              <a:rPr kumimoji="0" lang="en-US" altLang="en-US" b="1" i="0" u="none" strike="noStrike" cap="none" normalizeH="0" baseline="0" dirty="0">
                <a:ln>
                  <a:noFill/>
                </a:ln>
                <a:solidFill>
                  <a:schemeClr val="tx1"/>
                </a:solidFill>
                <a:effectLst/>
                <a:latin typeface="Arial" panose="020B0604020202020204" pitchFamily="34" charset="0"/>
              </a:rPr>
              <a:t>a small number of customers</a:t>
            </a:r>
            <a:r>
              <a:rPr kumimoji="0" lang="en-US" altLang="en-US" b="0" i="0" u="none" strike="noStrike" cap="none" normalizeH="0" baseline="0" dirty="0">
                <a:ln>
                  <a:noFill/>
                </a:ln>
                <a:solidFill>
                  <a:schemeClr val="tx1"/>
                </a:solidFill>
                <a:effectLst/>
                <a:latin typeface="Arial" panose="020B0604020202020204" pitchFamily="34" charset="0"/>
              </a:rPr>
              <a:t> spend/pay significantly more than others.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2060"/>
                </a:solidFill>
                <a:effectLst/>
                <a:latin typeface="Arial" panose="020B0604020202020204" pitchFamily="34" charset="0"/>
              </a:rPr>
              <a:t> 2. Frequency-Based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Unicode MS"/>
              </a:rPr>
              <a:t>BALANCE_FREQUENCY</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PURCHASES_FREQUENCY</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ONEOFF_PURCHASES_FREQUENCY</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PURCHASES_INSTALLMENTS_FREQUENCY</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CASH_ADVANCE_FREQUENCY</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a:ln>
                  <a:noFill/>
                </a:ln>
                <a:solidFill>
                  <a:schemeClr val="tx1"/>
                </a:solidFill>
                <a:effectLst/>
                <a:latin typeface="Arial Unicode MS"/>
              </a:rPr>
              <a:t>PRC_FULL_PAYMENT</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Mostly </a:t>
            </a:r>
            <a:r>
              <a:rPr kumimoji="0" lang="en-US" altLang="en-US" b="1" i="0" u="none" strike="noStrike" cap="none" normalizeH="0" baseline="0" dirty="0">
                <a:ln>
                  <a:noFill/>
                </a:ln>
                <a:solidFill>
                  <a:schemeClr val="tx1"/>
                </a:solidFill>
                <a:effectLst/>
                <a:latin typeface="Arial" panose="020B0604020202020204" pitchFamily="34" charset="0"/>
              </a:rPr>
              <a:t>bounded between 0 and 1</a:t>
            </a:r>
            <a:r>
              <a:rPr kumimoji="0" lang="en-US" altLang="en-US"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Show </a:t>
            </a:r>
            <a:r>
              <a:rPr kumimoji="0" lang="en-US" altLang="en-US" b="1" i="0" u="none" strike="noStrike" cap="none" normalizeH="0" baseline="0" dirty="0">
                <a:ln>
                  <a:noFill/>
                </a:ln>
                <a:solidFill>
                  <a:schemeClr val="tx1"/>
                </a:solidFill>
                <a:effectLst/>
                <a:latin typeface="Arial" panose="020B0604020202020204" pitchFamily="34" charset="0"/>
              </a:rPr>
              <a:t>less variability</a:t>
            </a:r>
            <a:r>
              <a:rPr kumimoji="0" lang="en-US" altLang="en-US" b="0" i="0" u="none" strike="noStrike" cap="none" normalizeH="0" baseline="0" dirty="0">
                <a:ln>
                  <a:noFill/>
                </a:ln>
                <a:solidFill>
                  <a:schemeClr val="tx1"/>
                </a:solidFill>
                <a:effectLst/>
                <a:latin typeface="Arial" panose="020B0604020202020204" pitchFamily="34" charset="0"/>
              </a:rPr>
              <a:t> but </a:t>
            </a:r>
            <a:r>
              <a:rPr kumimoji="0" lang="en-US" altLang="en-US" b="1" i="0" u="none" strike="noStrike" cap="none" normalizeH="0" baseline="0" dirty="0">
                <a:ln>
                  <a:noFill/>
                </a:ln>
                <a:solidFill>
                  <a:schemeClr val="tx1"/>
                </a:solidFill>
                <a:effectLst/>
                <a:latin typeface="Arial" panose="020B0604020202020204" pitchFamily="34" charset="0"/>
              </a:rPr>
              <a:t>some outliers</a:t>
            </a:r>
            <a:r>
              <a:rPr kumimoji="0" lang="en-US" altLang="en-US" b="0" i="0" u="none" strike="noStrike" cap="none" normalizeH="0" baseline="0" dirty="0">
                <a:ln>
                  <a:noFill/>
                </a:ln>
                <a:solidFill>
                  <a:schemeClr val="tx1"/>
                </a:solidFill>
                <a:effectLst/>
                <a:latin typeface="Arial" panose="020B0604020202020204" pitchFamily="34" charset="0"/>
              </a:rPr>
              <a:t> suggest irregular behavior patterns in a few customers.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2060"/>
                </a:solidFill>
                <a:effectLst/>
                <a:latin typeface="Arial" panose="020B0604020202020204" pitchFamily="34" charset="0"/>
              </a:rPr>
              <a:t>3. </a:t>
            </a:r>
            <a:r>
              <a:rPr kumimoji="0" lang="en-US" altLang="en-US" sz="2000" b="1" i="0" u="none" strike="noStrike" cap="none" normalizeH="0" baseline="0" dirty="0">
                <a:ln>
                  <a:noFill/>
                </a:ln>
                <a:solidFill>
                  <a:srgbClr val="002060"/>
                </a:solidFill>
                <a:effectLst/>
                <a:latin typeface="Arial Unicode MS"/>
              </a:rPr>
              <a:t>CREDIT_LIMIT</a:t>
            </a:r>
            <a:endParaRPr kumimoji="0" lang="en-US" altLang="en-US" sz="2000" b="1" i="0" u="none" strike="noStrike" cap="none" normalizeH="0" baseline="0" dirty="0">
              <a:ln>
                <a:noFill/>
              </a:ln>
              <a:solidFill>
                <a:srgbClr val="002060"/>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Moderate spread with </a:t>
            </a:r>
            <a:r>
              <a:rPr kumimoji="0" lang="en-US" altLang="en-US" sz="2000" b="1" i="0" u="none" strike="noStrike" cap="none" normalizeH="0" baseline="0" dirty="0">
                <a:ln>
                  <a:noFill/>
                </a:ln>
                <a:solidFill>
                  <a:schemeClr val="tx1"/>
                </a:solidFill>
                <a:effectLst/>
                <a:latin typeface="Arial" panose="020B0604020202020204" pitchFamily="34" charset="0"/>
              </a:rPr>
              <a:t>a few large outliers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Shows variation in credit exposure given to customers, but most limits are skewed towards the lower end</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754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3E93399-0545-4833-2D3F-C9F20549ACA4}"/>
              </a:ext>
            </a:extLst>
          </p:cNvPr>
          <p:cNvSpPr>
            <a:spLocks noGrp="1"/>
          </p:cNvSpPr>
          <p:nvPr>
            <p:ph type="body" idx="1"/>
          </p:nvPr>
        </p:nvSpPr>
        <p:spPr>
          <a:xfrm flipV="1">
            <a:off x="838200" y="58053182"/>
            <a:ext cx="10515600" cy="106968532"/>
          </a:xfrm>
        </p:spPr>
        <p:txBody>
          <a:bodyPr/>
          <a:lstStyle/>
          <a:p>
            <a:endParaRPr lang="en-IN" dirty="0"/>
          </a:p>
        </p:txBody>
      </p:sp>
      <p:sp>
        <p:nvSpPr>
          <p:cNvPr id="8" name="Rectangle 4">
            <a:extLst>
              <a:ext uri="{FF2B5EF4-FFF2-40B4-BE49-F238E27FC236}">
                <a16:creationId xmlns:a16="http://schemas.microsoft.com/office/drawing/2014/main" id="{B4123209-9C32-3B6C-A6C5-45330B358560}"/>
              </a:ext>
            </a:extLst>
          </p:cNvPr>
          <p:cNvSpPr>
            <a:spLocks noChangeArrowheads="1"/>
          </p:cNvSpPr>
          <p:nvPr/>
        </p:nvSpPr>
        <p:spPr bwMode="auto">
          <a:xfrm>
            <a:off x="238538" y="565453"/>
            <a:ext cx="1153933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2060"/>
                </a:solidFill>
                <a:effectLst/>
                <a:latin typeface="Arial" panose="020B0604020202020204" pitchFamily="34" charset="0"/>
              </a:rPr>
              <a:t>4. Low Variance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Unicode MS"/>
              </a:rPr>
              <a:t>TENURE</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Shows </a:t>
            </a:r>
            <a:r>
              <a:rPr kumimoji="0" lang="en-US" altLang="en-US" sz="2000" b="1" i="0" u="none" strike="noStrike" cap="none" normalizeH="0" baseline="0" dirty="0">
                <a:ln>
                  <a:noFill/>
                </a:ln>
                <a:solidFill>
                  <a:schemeClr val="tx1"/>
                </a:solidFill>
                <a:effectLst/>
                <a:latin typeface="Arial" panose="020B0604020202020204" pitchFamily="34" charset="0"/>
              </a:rPr>
              <a:t>almost no variability</a:t>
            </a:r>
            <a:r>
              <a:rPr kumimoji="0" lang="en-US" altLang="en-US" sz="2000" b="0" i="0" u="none" strike="noStrike" cap="none" normalizeH="0" baseline="0" dirty="0">
                <a:ln>
                  <a:noFill/>
                </a:ln>
                <a:solidFill>
                  <a:schemeClr val="tx1"/>
                </a:solidFill>
                <a:effectLst/>
                <a:latin typeface="Arial" panose="020B0604020202020204" pitchFamily="34" charset="0"/>
              </a:rPr>
              <a:t>, concentrated around a few values (e.g., 12 months).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Could imply most customers have been with the bank for about the same duration.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2060"/>
                </a:solidFill>
                <a:effectLst/>
                <a:latin typeface="Arial" panose="020B0604020202020204" pitchFamily="34" charset="0"/>
              </a:rPr>
              <a:t>5. Important Insight for Preprocessing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Many features are </a:t>
            </a:r>
            <a:r>
              <a:rPr kumimoji="0" lang="en-US" altLang="en-US" sz="2000" b="1" i="0" u="none" strike="noStrike" cap="none" normalizeH="0" baseline="0" dirty="0">
                <a:ln>
                  <a:noFill/>
                </a:ln>
                <a:solidFill>
                  <a:schemeClr val="tx1"/>
                </a:solidFill>
                <a:effectLst/>
                <a:latin typeface="Arial" panose="020B0604020202020204" pitchFamily="34" charset="0"/>
              </a:rPr>
              <a:t>highly skewed</a:t>
            </a:r>
            <a:r>
              <a:rPr kumimoji="0" lang="en-US" altLang="en-US" sz="2000" b="0" i="0" u="none" strike="noStrike" cap="none" normalizeH="0" baseline="0" dirty="0">
                <a:ln>
                  <a:noFill/>
                </a:ln>
                <a:solidFill>
                  <a:schemeClr val="tx1"/>
                </a:solidFill>
                <a:effectLst/>
                <a:latin typeface="Arial" panose="020B0604020202020204" pitchFamily="34" charset="0"/>
              </a:rPr>
              <a:t> and contain </a:t>
            </a:r>
            <a:r>
              <a:rPr kumimoji="0" lang="en-US" altLang="en-US" sz="2000" b="1" i="0" u="none" strike="noStrike" cap="none" normalizeH="0" baseline="0" dirty="0">
                <a:ln>
                  <a:noFill/>
                </a:ln>
                <a:solidFill>
                  <a:schemeClr val="tx1"/>
                </a:solidFill>
                <a:effectLst/>
                <a:latin typeface="Arial" panose="020B0604020202020204" pitchFamily="34" charset="0"/>
              </a:rPr>
              <a:t>extreme outliers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These may need </a:t>
            </a:r>
            <a:r>
              <a:rPr kumimoji="0" lang="en-US" altLang="en-US" sz="2000" b="1" i="0" u="none" strike="noStrike" cap="none" normalizeH="0" baseline="0" dirty="0">
                <a:ln>
                  <a:noFill/>
                </a:ln>
                <a:solidFill>
                  <a:schemeClr val="tx1"/>
                </a:solidFill>
                <a:effectLst/>
                <a:latin typeface="Arial" panose="020B0604020202020204" pitchFamily="34" charset="0"/>
              </a:rPr>
              <a:t>log transformation</a:t>
            </a:r>
            <a:r>
              <a:rPr kumimoji="0" lang="en-US" altLang="en-US" sz="2000" b="0" i="0" u="none" strike="noStrike" cap="none" normalizeH="0" baseline="0" dirty="0">
                <a:ln>
                  <a:noFill/>
                </a:ln>
                <a:solidFill>
                  <a:schemeClr val="tx1"/>
                </a:solidFill>
                <a:effectLst/>
                <a:latin typeface="Arial" panose="020B0604020202020204" pitchFamily="34" charset="0"/>
              </a:rPr>
              <a:t> or </a:t>
            </a:r>
            <a:r>
              <a:rPr kumimoji="0" lang="en-US" altLang="en-US" sz="2000" b="1" i="0" u="none" strike="noStrike" cap="none" normalizeH="0" baseline="0" dirty="0">
                <a:ln>
                  <a:noFill/>
                </a:ln>
                <a:solidFill>
                  <a:schemeClr val="tx1"/>
                </a:solidFill>
                <a:effectLst/>
                <a:latin typeface="Arial" panose="020B0604020202020204" pitchFamily="34" charset="0"/>
              </a:rPr>
              <a:t>scaling</a:t>
            </a:r>
            <a:r>
              <a:rPr kumimoji="0" lang="en-US" altLang="en-US" sz="2000" b="0" i="0" u="none" strike="noStrike" cap="none" normalizeH="0" baseline="0" dirty="0">
                <a:ln>
                  <a:noFill/>
                </a:ln>
                <a:solidFill>
                  <a:schemeClr val="tx1"/>
                </a:solidFill>
                <a:effectLst/>
                <a:latin typeface="Arial" panose="020B0604020202020204" pitchFamily="34" charset="0"/>
              </a:rPr>
              <a:t> before clustering.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Consider </a:t>
            </a:r>
            <a:r>
              <a:rPr kumimoji="0" lang="en-US" altLang="en-US" sz="2000" b="1" i="0" u="none" strike="noStrike" cap="none" normalizeH="0" baseline="0" dirty="0">
                <a:ln>
                  <a:noFill/>
                </a:ln>
                <a:solidFill>
                  <a:schemeClr val="tx1"/>
                </a:solidFill>
                <a:effectLst/>
                <a:latin typeface="Arial" panose="020B0604020202020204" pitchFamily="34" charset="0"/>
              </a:rPr>
              <a:t>robust scaling</a:t>
            </a:r>
            <a:r>
              <a:rPr kumimoji="0" lang="en-US" altLang="en-US" sz="2000" b="0" i="0" u="none" strike="noStrike" cap="none" normalizeH="0" baseline="0" dirty="0">
                <a:ln>
                  <a:noFill/>
                </a:ln>
                <a:solidFill>
                  <a:schemeClr val="tx1"/>
                </a:solidFill>
                <a:effectLst/>
                <a:latin typeface="Arial" panose="020B0604020202020204" pitchFamily="34" charset="0"/>
              </a:rPr>
              <a:t> or </a:t>
            </a:r>
            <a:r>
              <a:rPr kumimoji="0" lang="en-US" altLang="en-US" sz="2000" b="1" i="0" u="none" strike="noStrike" cap="none" normalizeH="0" baseline="0" dirty="0">
                <a:ln>
                  <a:noFill/>
                </a:ln>
                <a:solidFill>
                  <a:schemeClr val="tx1"/>
                </a:solidFill>
                <a:effectLst/>
                <a:latin typeface="Arial" panose="020B0604020202020204" pitchFamily="34" charset="0"/>
              </a:rPr>
              <a:t>outlier treatment</a:t>
            </a:r>
            <a:r>
              <a:rPr kumimoji="0" lang="en-US" altLang="en-US" sz="2000" b="0" i="0" u="none" strike="noStrike" cap="none" normalizeH="0" baseline="0" dirty="0">
                <a:ln>
                  <a:noFill/>
                </a:ln>
                <a:solidFill>
                  <a:schemeClr val="tx1"/>
                </a:solidFill>
                <a:effectLst/>
                <a:latin typeface="Arial" panose="020B0604020202020204" pitchFamily="34" charset="0"/>
              </a:rPr>
              <a:t> to avoid model distortion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74B8A732-2DD2-E44C-518D-9D6AE7F12F04}"/>
              </a:ext>
            </a:extLst>
          </p:cNvPr>
          <p:cNvSpPr>
            <a:spLocks noChangeArrowheads="1"/>
          </p:cNvSpPr>
          <p:nvPr/>
        </p:nvSpPr>
        <p:spPr bwMode="auto">
          <a:xfrm>
            <a:off x="238539" y="3915164"/>
            <a:ext cx="1153933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F5597"/>
                </a:solidFill>
                <a:effectLst/>
                <a:latin typeface="Arial" panose="020B0604020202020204" pitchFamily="34" charset="0"/>
              </a:rPr>
              <a:t>Conclusion:</a:t>
            </a:r>
            <a:r>
              <a:rPr kumimoji="0" lang="en-US" altLang="en-US" sz="2000" b="1" i="0" u="none" strike="noStrike" cap="none" normalizeH="0" baseline="0" dirty="0">
                <a:ln>
                  <a:noFill/>
                </a:ln>
                <a:solidFill>
                  <a:srgbClr val="8BBCFF"/>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rgbClr val="8BBCFF"/>
                </a:solidFill>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Boxplots reveal significant variability and outliers across key credit card usage metrics. Proper data preprocessing such as </a:t>
            </a:r>
            <a:r>
              <a:rPr kumimoji="0" lang="en-US" altLang="en-US" sz="2000" b="1" i="0" u="none" strike="noStrike" cap="none" normalizeH="0" baseline="0" dirty="0">
                <a:ln>
                  <a:noFill/>
                </a:ln>
                <a:solidFill>
                  <a:schemeClr val="tx1"/>
                </a:solidFill>
                <a:effectLst/>
                <a:latin typeface="Arial" panose="020B0604020202020204" pitchFamily="34" charset="0"/>
              </a:rPr>
              <a:t>scaling and outlier handling</a:t>
            </a:r>
            <a:r>
              <a:rPr kumimoji="0" lang="en-US" altLang="en-US" sz="2000" b="0" i="0" u="none" strike="noStrike" cap="none" normalizeH="0" baseline="0" dirty="0">
                <a:ln>
                  <a:noFill/>
                </a:ln>
                <a:solidFill>
                  <a:schemeClr val="tx1"/>
                </a:solidFill>
                <a:effectLst/>
                <a:latin typeface="Arial" panose="020B0604020202020204" pitchFamily="34" charset="0"/>
              </a:rPr>
              <a:t> is essential for reliable customer segmentation.</a:t>
            </a:r>
          </a:p>
        </p:txBody>
      </p:sp>
    </p:spTree>
    <p:extLst>
      <p:ext uri="{BB962C8B-B14F-4D97-AF65-F5344CB8AC3E}">
        <p14:creationId xmlns:p14="http://schemas.microsoft.com/office/powerpoint/2010/main" val="276978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42579-B523-5A4D-948E-0F96FF3ED160}"/>
              </a:ext>
            </a:extLst>
          </p:cNvPr>
          <p:cNvSpPr>
            <a:spLocks noGrp="1"/>
          </p:cNvSpPr>
          <p:nvPr>
            <p:ph type="title"/>
          </p:nvPr>
        </p:nvSpPr>
        <p:spPr>
          <a:xfrm>
            <a:off x="268358" y="603666"/>
            <a:ext cx="7156172" cy="612775"/>
          </a:xfrm>
        </p:spPr>
        <p:txBody>
          <a:bodyPr>
            <a:normAutofit fontScale="90000"/>
          </a:bodyPr>
          <a:lstStyle/>
          <a:p>
            <a:r>
              <a:rPr lang="en-IN" dirty="0"/>
              <a:t> </a:t>
            </a:r>
            <a:r>
              <a:rPr lang="en-IN" sz="3200" b="1" dirty="0">
                <a:solidFill>
                  <a:schemeClr val="accent5">
                    <a:lumMod val="75000"/>
                  </a:schemeClr>
                </a:solidFill>
                <a:latin typeface="+mn-lt"/>
              </a:rPr>
              <a:t>DIMENSIONALITY REDUCTION (PCA &amp; t-SNE)</a:t>
            </a:r>
          </a:p>
        </p:txBody>
      </p:sp>
      <p:sp>
        <p:nvSpPr>
          <p:cNvPr id="4" name="Rectangle 1">
            <a:extLst>
              <a:ext uri="{FF2B5EF4-FFF2-40B4-BE49-F238E27FC236}">
                <a16:creationId xmlns:a16="http://schemas.microsoft.com/office/drawing/2014/main" id="{0290F68D-6D2E-41D5-4B58-481B54FCCE76}"/>
              </a:ext>
            </a:extLst>
          </p:cNvPr>
          <p:cNvSpPr>
            <a:spLocks noGrp="1" noChangeArrowheads="1"/>
          </p:cNvSpPr>
          <p:nvPr>
            <p:ph type="body" orient="vert" idx="1"/>
          </p:nvPr>
        </p:nvSpPr>
        <p:spPr bwMode="auto">
          <a:xfrm>
            <a:off x="268358" y="944452"/>
            <a:ext cx="6500190" cy="5432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eaLnBrk="0" fontAlgn="base" hangingPunct="0">
              <a:lnSpc>
                <a:spcPct val="100000"/>
              </a:lnSpc>
              <a:spcBef>
                <a:spcPct val="0"/>
              </a:spcBef>
              <a:spcAft>
                <a:spcPct val="0"/>
              </a:spcAft>
              <a:buNone/>
            </a:pPr>
            <a:r>
              <a:rPr lang="en-US" b="1" dirty="0">
                <a:solidFill>
                  <a:srgbClr val="161A3E"/>
                </a:solidFill>
              </a:rPr>
              <a:t>PCA:</a:t>
            </a:r>
          </a:p>
          <a:p>
            <a:pPr marL="342900" indent="-342900" algn="l" eaLnBrk="0" fontAlgn="base" hangingPunct="0">
              <a:lnSpc>
                <a:spcPct val="100000"/>
              </a:lnSpc>
              <a:spcBef>
                <a:spcPct val="0"/>
              </a:spcBef>
              <a:spcAft>
                <a:spcPct val="0"/>
              </a:spcAft>
              <a:buFont typeface="Wingdings" panose="05000000000000000000" pitchFamily="2" charset="2"/>
              <a:buChar char="q"/>
            </a:pPr>
            <a:r>
              <a:rPr lang="en-US" sz="2000" dirty="0"/>
              <a:t>PCA is a dimensionality reduction technique used to simplify complex datasets.</a:t>
            </a:r>
          </a:p>
          <a:p>
            <a:pPr marL="342900" indent="-342900" algn="l" eaLnBrk="0" fontAlgn="base" hangingPunct="0">
              <a:lnSpc>
                <a:spcPct val="100000"/>
              </a:lnSpc>
              <a:spcBef>
                <a:spcPct val="0"/>
              </a:spcBef>
              <a:spcAft>
                <a:spcPct val="0"/>
              </a:spcAft>
              <a:buFont typeface="Wingdings" panose="05000000000000000000" pitchFamily="2" charset="2"/>
              <a:buChar char="q"/>
            </a:pPr>
            <a:r>
              <a:rPr lang="en-US" sz="2000" dirty="0"/>
              <a:t>It reduces the number of features while retaining the most of the information.</a:t>
            </a:r>
          </a:p>
          <a:p>
            <a:pPr marL="342900" indent="-342900" algn="l" eaLnBrk="0" fontAlgn="base" hangingPunct="0">
              <a:lnSpc>
                <a:spcPct val="100000"/>
              </a:lnSpc>
              <a:spcBef>
                <a:spcPct val="0"/>
              </a:spcBef>
              <a:spcAft>
                <a:spcPct val="0"/>
              </a:spcAft>
              <a:buFont typeface="Wingdings" panose="05000000000000000000" pitchFamily="2" charset="2"/>
              <a:buChar char="q"/>
            </a:pPr>
            <a:r>
              <a:rPr lang="en-US" sz="2000" dirty="0"/>
              <a:t>In this case, PCA is used to project high-dimensional credit card data onto a 2D plane.</a:t>
            </a:r>
          </a:p>
          <a:p>
            <a:pPr marL="0" indent="0" algn="l" eaLnBrk="0" fontAlgn="base" hangingPunct="0">
              <a:lnSpc>
                <a:spcPct val="100000"/>
              </a:lnSpc>
              <a:spcBef>
                <a:spcPct val="0"/>
              </a:spcBef>
              <a:spcAft>
                <a:spcPct val="0"/>
              </a:spcAft>
              <a:buNone/>
            </a:pPr>
            <a:endParaRPr lang="en-US" sz="2000" dirty="0"/>
          </a:p>
          <a:p>
            <a:pPr marL="0" indent="0" algn="l" eaLnBrk="0" fontAlgn="base" hangingPunct="0">
              <a:lnSpc>
                <a:spcPct val="100000"/>
              </a:lnSpc>
              <a:spcBef>
                <a:spcPct val="0"/>
              </a:spcBef>
              <a:spcAft>
                <a:spcPct val="0"/>
              </a:spcAft>
              <a:buNone/>
            </a:pPr>
            <a:r>
              <a:rPr lang="en-US" b="1" dirty="0">
                <a:solidFill>
                  <a:srgbClr val="161A3E"/>
                </a:solidFill>
              </a:rPr>
              <a:t>Observations:</a:t>
            </a:r>
          </a:p>
          <a:p>
            <a:pPr marL="0" indent="0" algn="l" eaLnBrk="0" fontAlgn="base" hangingPunct="0">
              <a:lnSpc>
                <a:spcPct val="100000"/>
              </a:lnSpc>
              <a:spcBef>
                <a:spcPct val="0"/>
              </a:spcBef>
              <a:spcAft>
                <a:spcPct val="0"/>
              </a:spcAft>
              <a:buNone/>
            </a:pPr>
            <a:endParaRPr lang="en-US" sz="2000" dirty="0"/>
          </a:p>
          <a:p>
            <a:pPr eaLnBrk="0" fontAlgn="base" hangingPunct="0">
              <a:lnSpc>
                <a:spcPct val="100000"/>
              </a:lnSpc>
              <a:spcBef>
                <a:spcPct val="0"/>
              </a:spcBef>
              <a:spcAft>
                <a:spcPct val="0"/>
              </a:spcAft>
              <a:buFont typeface="Wingdings" panose="05000000000000000000" pitchFamily="2" charset="2"/>
              <a:buChar char="§"/>
            </a:pPr>
            <a:r>
              <a:rPr lang="en-US" sz="2000" dirty="0"/>
              <a:t>Data points are densely clustered in the lower left quadrant.</a:t>
            </a:r>
          </a:p>
          <a:p>
            <a:pPr eaLnBrk="0" fontAlgn="base" hangingPunct="0">
              <a:lnSpc>
                <a:spcPct val="100000"/>
              </a:lnSpc>
              <a:spcBef>
                <a:spcPct val="0"/>
              </a:spcBef>
              <a:spcAft>
                <a:spcPct val="0"/>
              </a:spcAft>
              <a:buFont typeface="Wingdings" panose="05000000000000000000" pitchFamily="2" charset="2"/>
              <a:buChar char="§"/>
            </a:pPr>
            <a:r>
              <a:rPr lang="en-US" sz="2000" dirty="0"/>
              <a:t>Outliers are present in the upper right quadrant.</a:t>
            </a:r>
          </a:p>
          <a:p>
            <a:pPr eaLnBrk="0" fontAlgn="base" hangingPunct="0">
              <a:lnSpc>
                <a:spcPct val="100000"/>
              </a:lnSpc>
              <a:spcBef>
                <a:spcPct val="0"/>
              </a:spcBef>
              <a:spcAft>
                <a:spcPct val="0"/>
              </a:spcAft>
              <a:buFont typeface="Wingdings" panose="05000000000000000000" pitchFamily="2" charset="2"/>
              <a:buChar char="§"/>
            </a:pPr>
            <a:r>
              <a:rPr lang="en-US" sz="2000" dirty="0"/>
              <a:t>Non-uniform distribution with higher concentration near the origin</a:t>
            </a:r>
          </a:p>
          <a:p>
            <a:pPr marL="0" indent="0" algn="l" eaLnBrk="0" fontAlgn="base" hangingPunct="0">
              <a:lnSpc>
                <a:spcPct val="100000"/>
              </a:lnSpc>
              <a:spcBef>
                <a:spcPct val="0"/>
              </a:spcBef>
              <a:spcAft>
                <a:spcPct val="0"/>
              </a:spcAft>
              <a:buNone/>
            </a:pPr>
            <a:endParaRPr lang="en-US" sz="2000" dirty="0"/>
          </a:p>
          <a:p>
            <a:pPr marL="342900" indent="-342900" eaLnBrk="0" fontAlgn="base" hangingPunct="0">
              <a:lnSpc>
                <a:spcPct val="100000"/>
              </a:lnSpc>
              <a:spcBef>
                <a:spcPct val="0"/>
              </a:spcBef>
              <a:spcAft>
                <a:spcPct val="0"/>
              </a:spcAft>
              <a:buFont typeface="Wingdings" panose="05000000000000000000" pitchFamily="2" charset="2"/>
              <a:buChar char="q"/>
            </a:pPr>
            <a:endParaRPr lang="en-US" sz="1100" dirty="0"/>
          </a:p>
        </p:txBody>
      </p:sp>
      <p:pic>
        <p:nvPicPr>
          <p:cNvPr id="6" name="Picture 5">
            <a:extLst>
              <a:ext uri="{FF2B5EF4-FFF2-40B4-BE49-F238E27FC236}">
                <a16:creationId xmlns:a16="http://schemas.microsoft.com/office/drawing/2014/main" id="{8547A841-3379-E3A5-0309-78D1462BB330}"/>
              </a:ext>
            </a:extLst>
          </p:cNvPr>
          <p:cNvPicPr>
            <a:picLocks noChangeAspect="1"/>
          </p:cNvPicPr>
          <p:nvPr/>
        </p:nvPicPr>
        <p:blipFill>
          <a:blip r:embed="rId2">
            <a:extLst>
              <a:ext uri="{28A0092B-C50C-407E-A947-70E740481C1C}">
                <a14:useLocalDpi xmlns:a14="http://schemas.microsoft.com/office/drawing/2010/main" val="0"/>
              </a:ext>
            </a:extLst>
          </a:blip>
          <a:srcRect l="19643" t="24399" r="39348" b="14527"/>
          <a:stretch>
            <a:fillRect/>
          </a:stretch>
        </p:blipFill>
        <p:spPr>
          <a:xfrm>
            <a:off x="7076188" y="1808922"/>
            <a:ext cx="4999855" cy="3955774"/>
          </a:xfrm>
          <a:prstGeom prst="rect">
            <a:avLst/>
          </a:prstGeom>
        </p:spPr>
      </p:pic>
    </p:spTree>
    <p:extLst>
      <p:ext uri="{BB962C8B-B14F-4D97-AF65-F5344CB8AC3E}">
        <p14:creationId xmlns:p14="http://schemas.microsoft.com/office/powerpoint/2010/main" val="2968836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E723C16-84FB-BE36-F222-95E9470AE3D2}"/>
              </a:ext>
            </a:extLst>
          </p:cNvPr>
          <p:cNvSpPr>
            <a:spLocks noGrp="1"/>
          </p:cNvSpPr>
          <p:nvPr>
            <p:ph type="body" sz="half" idx="2"/>
          </p:nvPr>
        </p:nvSpPr>
        <p:spPr>
          <a:xfrm>
            <a:off x="288236" y="298175"/>
            <a:ext cx="11598964" cy="5655364"/>
          </a:xfrm>
        </p:spPr>
        <p:txBody>
          <a:bodyPr>
            <a:noAutofit/>
          </a:bodyPr>
          <a:lstStyle/>
          <a:p>
            <a:r>
              <a:rPr lang="en-US" sz="3600" dirty="0">
                <a:solidFill>
                  <a:srgbClr val="161A3E"/>
                </a:solidFill>
              </a:rPr>
              <a:t>Analysis </a:t>
            </a:r>
            <a:r>
              <a:rPr lang="en-US" sz="3200" dirty="0">
                <a:solidFill>
                  <a:srgbClr val="161A3E"/>
                </a:solidFill>
              </a:rPr>
              <a:t>: </a:t>
            </a:r>
          </a:p>
          <a:p>
            <a:pPr marL="457200" indent="-457200">
              <a:buFont typeface="Wingdings" panose="05000000000000000000" pitchFamily="2" charset="2"/>
              <a:buChar char="§"/>
            </a:pPr>
            <a:r>
              <a:rPr lang="en-US" sz="3200" dirty="0">
                <a:solidFill>
                  <a:srgbClr val="161A3E"/>
                </a:solidFill>
              </a:rPr>
              <a:t>The 2D projection reveals underlying structure in the data        </a:t>
            </a:r>
          </a:p>
          <a:p>
            <a:pPr marL="457200" indent="-457200">
              <a:buFont typeface="Wingdings" panose="05000000000000000000" pitchFamily="2" charset="2"/>
              <a:buChar char="§"/>
            </a:pPr>
            <a:r>
              <a:rPr lang="en-US" sz="3200" dirty="0">
                <a:solidFill>
                  <a:srgbClr val="161A3E"/>
                </a:solidFill>
              </a:rPr>
              <a:t>First two principal components capture significant variance       </a:t>
            </a:r>
          </a:p>
          <a:p>
            <a:pPr marL="457200" indent="-457200">
              <a:buFont typeface="Wingdings" panose="05000000000000000000" pitchFamily="2" charset="2"/>
              <a:buChar char="§"/>
            </a:pPr>
            <a:r>
              <a:rPr lang="en-US" sz="3200" dirty="0">
                <a:solidFill>
                  <a:srgbClr val="161A3E"/>
                </a:solidFill>
              </a:rPr>
              <a:t>Further analysis is needed to understand underlying factors</a:t>
            </a:r>
          </a:p>
          <a:p>
            <a:endParaRPr lang="en-US" sz="3200" b="1" dirty="0">
              <a:solidFill>
                <a:srgbClr val="161A3E"/>
              </a:solidFill>
            </a:endParaRPr>
          </a:p>
          <a:p>
            <a:r>
              <a:rPr lang="en-US" sz="3200" b="1" dirty="0">
                <a:solidFill>
                  <a:srgbClr val="161A3E"/>
                </a:solidFill>
              </a:rPr>
              <a:t>Conclusion:</a:t>
            </a:r>
          </a:p>
          <a:p>
            <a:pPr marL="285750" indent="-285750">
              <a:buFont typeface="Wingdings" panose="05000000000000000000" pitchFamily="2" charset="2"/>
              <a:buChar char="Ø"/>
            </a:pPr>
            <a:r>
              <a:rPr lang="en-US" sz="3200" dirty="0"/>
              <a:t>PCA is a useful tool for visualizing high-dimensional data</a:t>
            </a:r>
          </a:p>
          <a:p>
            <a:pPr marL="285750" indent="-285750">
              <a:buFont typeface="Wingdings" panose="05000000000000000000" pitchFamily="2" charset="2"/>
              <a:buChar char="Ø"/>
            </a:pPr>
            <a:r>
              <a:rPr lang="en-US" sz="3200" dirty="0"/>
              <a:t>The 2D projection provides a simplified representation of the data</a:t>
            </a:r>
          </a:p>
          <a:p>
            <a:pPr marL="285750" indent="-285750">
              <a:buFont typeface="Wingdings" panose="05000000000000000000" pitchFamily="2" charset="2"/>
              <a:buChar char="Ø"/>
            </a:pPr>
            <a:r>
              <a:rPr lang="en-US" sz="3200" dirty="0"/>
              <a:t>Further analysis is needed to uncover deeper insights</a:t>
            </a:r>
            <a:endParaRPr lang="en-IN" sz="3200" dirty="0"/>
          </a:p>
        </p:txBody>
      </p:sp>
    </p:spTree>
    <p:extLst>
      <p:ext uri="{BB962C8B-B14F-4D97-AF65-F5344CB8AC3E}">
        <p14:creationId xmlns:p14="http://schemas.microsoft.com/office/powerpoint/2010/main" val="3627065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1997A-2F3A-BCB5-052B-C13274B50768}"/>
              </a:ext>
            </a:extLst>
          </p:cNvPr>
          <p:cNvSpPr>
            <a:spLocks noGrp="1"/>
          </p:cNvSpPr>
          <p:nvPr>
            <p:ph type="title"/>
          </p:nvPr>
        </p:nvSpPr>
        <p:spPr>
          <a:xfrm>
            <a:off x="839788" y="457200"/>
            <a:ext cx="1416395" cy="531812"/>
          </a:xfrm>
        </p:spPr>
        <p:txBody>
          <a:bodyPr>
            <a:normAutofit fontScale="90000"/>
          </a:bodyPr>
          <a:lstStyle/>
          <a:p>
            <a:r>
              <a:rPr lang="en-US" sz="3600" b="1" dirty="0">
                <a:solidFill>
                  <a:srgbClr val="161A3E"/>
                </a:solidFill>
                <a:latin typeface="+mn-lt"/>
              </a:rPr>
              <a:t>t-SNE:</a:t>
            </a:r>
            <a:endParaRPr lang="en-IN" sz="3600" b="1" dirty="0">
              <a:solidFill>
                <a:srgbClr val="161A3E"/>
              </a:solidFill>
              <a:latin typeface="+mn-lt"/>
            </a:endParaRPr>
          </a:p>
        </p:txBody>
      </p:sp>
      <p:sp>
        <p:nvSpPr>
          <p:cNvPr id="4" name="Text Placeholder 3">
            <a:extLst>
              <a:ext uri="{FF2B5EF4-FFF2-40B4-BE49-F238E27FC236}">
                <a16:creationId xmlns:a16="http://schemas.microsoft.com/office/drawing/2014/main" id="{218B64C5-0CB3-88DA-ADF0-1DF651E19088}"/>
              </a:ext>
            </a:extLst>
          </p:cNvPr>
          <p:cNvSpPr>
            <a:spLocks noGrp="1"/>
          </p:cNvSpPr>
          <p:nvPr>
            <p:ph type="body" sz="half" idx="2"/>
          </p:nvPr>
        </p:nvSpPr>
        <p:spPr>
          <a:xfrm>
            <a:off x="839788" y="1155112"/>
            <a:ext cx="6197116" cy="4686231"/>
          </a:xfrm>
        </p:spPr>
        <p:txBody>
          <a:bodyPr/>
          <a:lstStyle/>
          <a:p>
            <a:pPr marL="285750" indent="-285750">
              <a:buFont typeface="Wingdings" panose="05000000000000000000" pitchFamily="2" charset="2"/>
              <a:buChar char="q"/>
            </a:pPr>
            <a:r>
              <a:rPr lang="en-US" sz="2000" dirty="0"/>
              <a:t> t-SNE is a non-linear dimensionality reduction technique.</a:t>
            </a:r>
          </a:p>
          <a:p>
            <a:pPr marL="285750" indent="-285750">
              <a:buFont typeface="Wingdings" panose="05000000000000000000" pitchFamily="2" charset="2"/>
              <a:buChar char="q"/>
            </a:pPr>
            <a:r>
              <a:rPr lang="en-US" sz="2000" dirty="0"/>
              <a:t>It preserves local structures and relationships in the data.</a:t>
            </a:r>
          </a:p>
          <a:p>
            <a:pPr marL="285750" indent="-285750">
              <a:buFont typeface="Wingdings" panose="05000000000000000000" pitchFamily="2" charset="2"/>
              <a:buChar char="q"/>
            </a:pPr>
            <a:r>
              <a:rPr lang="en-US" sz="2000" dirty="0"/>
              <a:t>Used to visualize high-dimensional data in a lower-dimensional space.</a:t>
            </a:r>
          </a:p>
          <a:p>
            <a:r>
              <a:rPr lang="en-IN" sz="2400" b="1" dirty="0">
                <a:solidFill>
                  <a:srgbClr val="161A3E"/>
                </a:solidFill>
              </a:rPr>
              <a:t>Observations:</a:t>
            </a:r>
          </a:p>
          <a:p>
            <a:pPr marL="342900" indent="-342900">
              <a:buFont typeface="Wingdings" panose="05000000000000000000" pitchFamily="2" charset="2"/>
              <a:buChar char="§"/>
            </a:pPr>
            <a:r>
              <a:rPr lang="en-US" sz="2000" dirty="0"/>
              <a:t>The data points form a large, dense cluster with some sparse regions</a:t>
            </a:r>
          </a:p>
          <a:p>
            <a:pPr marL="342900" indent="-342900">
              <a:buFont typeface="Wingdings" panose="05000000000000000000" pitchFamily="2" charset="2"/>
              <a:buChar char="§"/>
            </a:pPr>
            <a:r>
              <a:rPr lang="en-US" sz="2000" dirty="0"/>
              <a:t>The cluster is not uniformly distributed, with varying densities </a:t>
            </a:r>
          </a:p>
          <a:p>
            <a:pPr marL="342900" indent="-342900">
              <a:buFont typeface="Wingdings" panose="05000000000000000000" pitchFamily="2" charset="2"/>
              <a:buChar char="§"/>
            </a:pPr>
            <a:r>
              <a:rPr lang="en-US" sz="2000" dirty="0"/>
              <a:t> No clear outliers or distinct sub-clusters are visible</a:t>
            </a:r>
            <a:endParaRPr lang="en-IN" sz="2000" dirty="0"/>
          </a:p>
        </p:txBody>
      </p:sp>
      <p:pic>
        <p:nvPicPr>
          <p:cNvPr id="6" name="Picture 5">
            <a:extLst>
              <a:ext uri="{FF2B5EF4-FFF2-40B4-BE49-F238E27FC236}">
                <a16:creationId xmlns:a16="http://schemas.microsoft.com/office/drawing/2014/main" id="{157D18AE-A438-F70F-0F00-690C122EA66F}"/>
              </a:ext>
            </a:extLst>
          </p:cNvPr>
          <p:cNvPicPr>
            <a:picLocks noChangeAspect="1"/>
          </p:cNvPicPr>
          <p:nvPr/>
        </p:nvPicPr>
        <p:blipFill>
          <a:blip r:embed="rId2">
            <a:extLst>
              <a:ext uri="{28A0092B-C50C-407E-A947-70E740481C1C}">
                <a14:useLocalDpi xmlns:a14="http://schemas.microsoft.com/office/drawing/2010/main" val="0"/>
              </a:ext>
            </a:extLst>
          </a:blip>
          <a:srcRect l="19402" t="27596" r="38370" b="11637"/>
          <a:stretch>
            <a:fillRect/>
          </a:stretch>
        </p:blipFill>
        <p:spPr>
          <a:xfrm>
            <a:off x="6967330" y="989012"/>
            <a:ext cx="5077309" cy="4713876"/>
          </a:xfrm>
          <a:prstGeom prst="rect">
            <a:avLst/>
          </a:prstGeom>
        </p:spPr>
      </p:pic>
    </p:spTree>
    <p:extLst>
      <p:ext uri="{BB962C8B-B14F-4D97-AF65-F5344CB8AC3E}">
        <p14:creationId xmlns:p14="http://schemas.microsoft.com/office/powerpoint/2010/main" val="3912861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BEBB6A2-8722-A577-9D87-3F85B1E64546}"/>
              </a:ext>
            </a:extLst>
          </p:cNvPr>
          <p:cNvSpPr>
            <a:spLocks noGrp="1"/>
          </p:cNvSpPr>
          <p:nvPr>
            <p:ph type="body" sz="half" idx="2"/>
          </p:nvPr>
        </p:nvSpPr>
        <p:spPr>
          <a:xfrm>
            <a:off x="457200" y="447261"/>
            <a:ext cx="11141765" cy="5421727"/>
          </a:xfrm>
        </p:spPr>
        <p:txBody>
          <a:bodyPr>
            <a:normAutofit/>
          </a:bodyPr>
          <a:lstStyle/>
          <a:p>
            <a:r>
              <a:rPr lang="en-US" sz="2800" dirty="0">
                <a:solidFill>
                  <a:srgbClr val="161A3E"/>
                </a:solidFill>
              </a:rPr>
              <a:t>Analysis: </a:t>
            </a:r>
          </a:p>
          <a:p>
            <a:pPr marL="457200" indent="-457200">
              <a:buFont typeface="Wingdings" panose="05000000000000000000" pitchFamily="2" charset="2"/>
              <a:buChar char="§"/>
            </a:pPr>
            <a:r>
              <a:rPr lang="en-US" sz="2800" dirty="0"/>
              <a:t>The 2D projection reveals the underlying structure of the data.</a:t>
            </a:r>
          </a:p>
          <a:p>
            <a:pPr marL="457200" indent="-457200">
              <a:buFont typeface="Wingdings" panose="05000000000000000000" pitchFamily="2" charset="2"/>
              <a:buChar char="§"/>
            </a:pPr>
            <a:r>
              <a:rPr lang="en-US" sz="2800" dirty="0"/>
              <a:t>t-SNE has preserved the local relationships between data points.</a:t>
            </a:r>
          </a:p>
          <a:p>
            <a:pPr marL="457200" indent="-457200">
              <a:buFont typeface="Wingdings" panose="05000000000000000000" pitchFamily="2" charset="2"/>
              <a:buChar char="§"/>
            </a:pPr>
            <a:r>
              <a:rPr lang="en-US" sz="2800" dirty="0"/>
              <a:t>Further analysis is needed to understand the underlying factors driving the observed patterns.</a:t>
            </a:r>
          </a:p>
          <a:p>
            <a:endParaRPr lang="en-US" sz="2800" dirty="0"/>
          </a:p>
          <a:p>
            <a:r>
              <a:rPr lang="en-US" sz="2800" b="1" dirty="0">
                <a:solidFill>
                  <a:srgbClr val="161A3E"/>
                </a:solidFill>
              </a:rPr>
              <a:t>Conclusion : </a:t>
            </a:r>
          </a:p>
          <a:p>
            <a:pPr marL="457200" indent="-457200">
              <a:buFont typeface="Wingdings" panose="05000000000000000000" pitchFamily="2" charset="2"/>
              <a:buChar char="Ø"/>
            </a:pPr>
            <a:r>
              <a:rPr lang="en-US" sz="2800" dirty="0"/>
              <a:t>t-SNE is a useful tool for visualizing high-dimensional data.</a:t>
            </a:r>
          </a:p>
          <a:p>
            <a:pPr marL="457200" indent="-457200">
              <a:buFont typeface="Wingdings" panose="05000000000000000000" pitchFamily="2" charset="2"/>
              <a:buChar char="Ø"/>
            </a:pPr>
            <a:r>
              <a:rPr lang="en-US" sz="2800" dirty="0"/>
              <a:t>The 2D projection provides a simplified representation of the data. </a:t>
            </a:r>
          </a:p>
          <a:p>
            <a:pPr marL="457200" indent="-457200">
              <a:buFont typeface="Wingdings" panose="05000000000000000000" pitchFamily="2" charset="2"/>
              <a:buChar char="Ø"/>
            </a:pPr>
            <a:r>
              <a:rPr lang="en-US" sz="2800" dirty="0"/>
              <a:t>Further analysis is needed to uncover deeper insights into the credit card usage. </a:t>
            </a:r>
            <a:endParaRPr lang="en-IN" sz="2800" dirty="0"/>
          </a:p>
        </p:txBody>
      </p:sp>
    </p:spTree>
    <p:extLst>
      <p:ext uri="{BB962C8B-B14F-4D97-AF65-F5344CB8AC3E}">
        <p14:creationId xmlns:p14="http://schemas.microsoft.com/office/powerpoint/2010/main" val="1953842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87FCD-BB22-E1C3-4E0E-7A840674CDF5}"/>
              </a:ext>
            </a:extLst>
          </p:cNvPr>
          <p:cNvSpPr>
            <a:spLocks noGrp="1"/>
          </p:cNvSpPr>
          <p:nvPr>
            <p:ph type="title"/>
          </p:nvPr>
        </p:nvSpPr>
        <p:spPr>
          <a:xfrm>
            <a:off x="347870" y="218661"/>
            <a:ext cx="11469756" cy="606287"/>
          </a:xfrm>
        </p:spPr>
        <p:txBody>
          <a:bodyPr>
            <a:normAutofit/>
          </a:bodyPr>
          <a:lstStyle/>
          <a:p>
            <a:r>
              <a:rPr lang="en-IN" sz="3600" b="1" dirty="0">
                <a:solidFill>
                  <a:srgbClr val="00B0F0"/>
                </a:solidFill>
                <a:latin typeface="+mn-lt"/>
              </a:rPr>
              <a:t>MODEL SELECTION AND EVALUATION</a:t>
            </a:r>
          </a:p>
        </p:txBody>
      </p:sp>
      <p:sp>
        <p:nvSpPr>
          <p:cNvPr id="4" name="Text Placeholder 3">
            <a:extLst>
              <a:ext uri="{FF2B5EF4-FFF2-40B4-BE49-F238E27FC236}">
                <a16:creationId xmlns:a16="http://schemas.microsoft.com/office/drawing/2014/main" id="{A16CF284-BEDF-CA53-498D-81F174104412}"/>
              </a:ext>
            </a:extLst>
          </p:cNvPr>
          <p:cNvSpPr>
            <a:spLocks noGrp="1"/>
          </p:cNvSpPr>
          <p:nvPr>
            <p:ph type="body" sz="half" idx="2"/>
          </p:nvPr>
        </p:nvSpPr>
        <p:spPr>
          <a:xfrm>
            <a:off x="278296" y="755374"/>
            <a:ext cx="6549887" cy="5044040"/>
          </a:xfrm>
        </p:spPr>
        <p:txBody>
          <a:bodyPr/>
          <a:lstStyle/>
          <a:p>
            <a:pPr marL="342900" indent="-342900">
              <a:buFont typeface="Wingdings" panose="05000000000000000000" pitchFamily="2" charset="2"/>
              <a:buChar char="Ø"/>
            </a:pPr>
            <a:r>
              <a:rPr lang="en-US" sz="2000" dirty="0"/>
              <a:t>Identifying the Optimal Unsupervised Learning Algorithm for Credit Card Usage Data.</a:t>
            </a:r>
          </a:p>
          <a:p>
            <a:pPr marL="342900" indent="-342900">
              <a:buFont typeface="Wingdings" panose="05000000000000000000" pitchFamily="2" charset="2"/>
              <a:buChar char="Ø"/>
            </a:pPr>
            <a:r>
              <a:rPr lang="en-US" sz="2000" dirty="0"/>
              <a:t>Brief overview of K-Means and Agglomerative Clustering.</a:t>
            </a:r>
          </a:p>
          <a:p>
            <a:pPr marL="342900" indent="-342900">
              <a:buFont typeface="Wingdings" panose="05000000000000000000" pitchFamily="2" charset="2"/>
              <a:buChar char="Ø"/>
            </a:pPr>
            <a:r>
              <a:rPr lang="en-US" sz="2000" dirty="0"/>
              <a:t>Explanation of Silhouette Score and Inertia.</a:t>
            </a:r>
          </a:p>
          <a:p>
            <a:endParaRPr lang="en-US" sz="2000" dirty="0"/>
          </a:p>
          <a:p>
            <a:r>
              <a:rPr lang="en-US" sz="2000" dirty="0"/>
              <a:t>Observations:</a:t>
            </a:r>
          </a:p>
          <a:p>
            <a:pPr marL="342900" indent="-342900">
              <a:buFont typeface="Wingdings" panose="05000000000000000000" pitchFamily="2" charset="2"/>
              <a:buChar char="Ø"/>
            </a:pPr>
            <a:r>
              <a:rPr lang="en-US" sz="2000" dirty="0"/>
              <a:t>The optimal number of clusters (K) is 3, as indicated by the highest Silhouette Score.</a:t>
            </a:r>
          </a:p>
          <a:p>
            <a:pPr marL="342900" indent="-342900">
              <a:buFont typeface="Wingdings" panose="05000000000000000000" pitchFamily="2" charset="2"/>
              <a:buChar char="Ø"/>
            </a:pPr>
            <a:r>
              <a:rPr lang="en-US" sz="2000" dirty="0"/>
              <a:t>The Silhouette Score initially increases from K=2 to K=3, then decreases until K=5, followed by a gradual increase until K=9, and finally decreases again at K=10.</a:t>
            </a:r>
          </a:p>
          <a:p>
            <a:pPr marL="285750" indent="-285750">
              <a:buFont typeface="Arial" panose="020B0604020202020204" pitchFamily="34" charset="0"/>
              <a:buChar char="•"/>
            </a:pPr>
            <a:r>
              <a:rPr lang="en-US" sz="2000" dirty="0"/>
              <a:t>The highest Silhouette Score is achieved at K=3.   </a:t>
            </a:r>
          </a:p>
          <a:p>
            <a:pPr marL="285750" indent="-285750">
              <a:buFont typeface="Arial" panose="020B0604020202020204" pitchFamily="34" charset="0"/>
              <a:buChar char="•"/>
            </a:pPr>
            <a:r>
              <a:rPr lang="en-US" sz="2000" dirty="0"/>
              <a:t>The lowest Silhouette Scores are observed at K=4 and K=5.</a:t>
            </a:r>
          </a:p>
          <a:p>
            <a:endParaRPr lang="en-US" dirty="0"/>
          </a:p>
          <a:p>
            <a:endParaRPr lang="en-IN" dirty="0"/>
          </a:p>
        </p:txBody>
      </p:sp>
      <p:pic>
        <p:nvPicPr>
          <p:cNvPr id="6" name="Picture 5">
            <a:extLst>
              <a:ext uri="{FF2B5EF4-FFF2-40B4-BE49-F238E27FC236}">
                <a16:creationId xmlns:a16="http://schemas.microsoft.com/office/drawing/2014/main" id="{9A567EB7-417D-BD4E-713D-6284D4475D8B}"/>
              </a:ext>
            </a:extLst>
          </p:cNvPr>
          <p:cNvPicPr>
            <a:picLocks noChangeAspect="1"/>
          </p:cNvPicPr>
          <p:nvPr/>
        </p:nvPicPr>
        <p:blipFill>
          <a:blip r:embed="rId2">
            <a:extLst>
              <a:ext uri="{28A0092B-C50C-407E-A947-70E740481C1C}">
                <a14:useLocalDpi xmlns:a14="http://schemas.microsoft.com/office/drawing/2010/main" val="0"/>
              </a:ext>
            </a:extLst>
          </a:blip>
          <a:srcRect l="16630" t="29590" r="42445" b="11023"/>
          <a:stretch>
            <a:fillRect/>
          </a:stretch>
        </p:blipFill>
        <p:spPr>
          <a:xfrm>
            <a:off x="6907181" y="755374"/>
            <a:ext cx="5208619" cy="4015409"/>
          </a:xfrm>
          <a:prstGeom prst="rect">
            <a:avLst/>
          </a:prstGeom>
        </p:spPr>
      </p:pic>
    </p:spTree>
    <p:extLst>
      <p:ext uri="{BB962C8B-B14F-4D97-AF65-F5344CB8AC3E}">
        <p14:creationId xmlns:p14="http://schemas.microsoft.com/office/powerpoint/2010/main" val="2183524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4A37A12-5552-2CBA-2D5A-5D9AADCFAF20}"/>
              </a:ext>
            </a:extLst>
          </p:cNvPr>
          <p:cNvSpPr>
            <a:spLocks noGrp="1"/>
          </p:cNvSpPr>
          <p:nvPr>
            <p:ph type="body" sz="half" idx="2"/>
          </p:nvPr>
        </p:nvSpPr>
        <p:spPr>
          <a:xfrm>
            <a:off x="839788" y="467139"/>
            <a:ext cx="10918203" cy="5401849"/>
          </a:xfrm>
        </p:spPr>
        <p:txBody>
          <a:bodyPr>
            <a:normAutofit/>
          </a:bodyPr>
          <a:lstStyle/>
          <a:p>
            <a:r>
              <a:rPr lang="en-US" sz="4000" b="1" dirty="0">
                <a:solidFill>
                  <a:srgbClr val="002060"/>
                </a:solidFill>
              </a:rPr>
              <a:t>Additional Points for Consideration:</a:t>
            </a:r>
          </a:p>
          <a:p>
            <a:r>
              <a:rPr lang="en-US" sz="4000" b="1" dirty="0"/>
              <a:t>Context: </a:t>
            </a:r>
          </a:p>
          <a:p>
            <a:pPr marL="457200" indent="-457200">
              <a:buFont typeface="Arial" panose="020B0604020202020204" pitchFamily="34" charset="0"/>
              <a:buChar char="•"/>
            </a:pPr>
            <a:r>
              <a:rPr lang="en-US" sz="3200" dirty="0"/>
              <a:t>The analysis is part of a project on credit card usage, suggesting that the clustering is related to customer segmentation or behavior analysis.</a:t>
            </a:r>
          </a:p>
          <a:p>
            <a:r>
              <a:rPr lang="en-US" sz="3600" b="1" dirty="0"/>
              <a:t>Methodology: </a:t>
            </a:r>
          </a:p>
          <a:p>
            <a:pPr marL="457200" indent="-457200">
              <a:buFont typeface="Arial" panose="020B0604020202020204" pitchFamily="34" charset="0"/>
              <a:buChar char="•"/>
            </a:pPr>
            <a:r>
              <a:rPr lang="en-US" sz="3200" dirty="0"/>
              <a:t>The use of K-Means clustering and Silhouette Score for evaluation indicates a quantitative approach to understanding the data structure.</a:t>
            </a:r>
            <a:endParaRPr lang="en-IN" sz="3200" dirty="0"/>
          </a:p>
        </p:txBody>
      </p:sp>
    </p:spTree>
    <p:extLst>
      <p:ext uri="{BB962C8B-B14F-4D97-AF65-F5344CB8AC3E}">
        <p14:creationId xmlns:p14="http://schemas.microsoft.com/office/powerpoint/2010/main" val="3840935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0CD6C39-57AE-7F74-72C0-088FCAA57A2C}"/>
              </a:ext>
            </a:extLst>
          </p:cNvPr>
          <p:cNvSpPr>
            <a:spLocks noGrp="1"/>
          </p:cNvSpPr>
          <p:nvPr>
            <p:ph idx="1"/>
          </p:nvPr>
        </p:nvSpPr>
        <p:spPr>
          <a:xfrm>
            <a:off x="4467113" y="335662"/>
            <a:ext cx="7267687" cy="5845630"/>
          </a:xfrm>
        </p:spPr>
        <p:txBody>
          <a:bodyPr>
            <a:normAutofit/>
          </a:bodyPr>
          <a:lstStyle/>
          <a:p>
            <a:r>
              <a:rPr lang="en-IN" sz="2400" b="1" dirty="0"/>
              <a:t>Targeted Marketing: </a:t>
            </a:r>
            <a:r>
              <a:rPr lang="en-IN" sz="2400" dirty="0"/>
              <a:t>Enables personalized marketing strategies for different customer segments, leading to higher engagement and coversion rates.</a:t>
            </a:r>
          </a:p>
          <a:p>
            <a:r>
              <a:rPr lang="en-IN" sz="2400" b="1" dirty="0"/>
              <a:t>Risk Management: </a:t>
            </a:r>
            <a:r>
              <a:rPr lang="en-IN" sz="2400" dirty="0"/>
              <a:t>identifiers high-risk customer segments for proactive credit monitoring and risk mitigation, reducing potential defaults.</a:t>
            </a:r>
          </a:p>
          <a:p>
            <a:r>
              <a:rPr lang="en-US" sz="2400" b="1" dirty="0"/>
              <a:t>Customer Retention</a:t>
            </a:r>
            <a:r>
              <a:rPr lang="en-US" sz="2400" dirty="0"/>
              <a:t>: Offers insights to develop loyalty programs and personalized rewards, increasing customer satisfaction and retention.</a:t>
            </a:r>
          </a:p>
          <a:p>
            <a:r>
              <a:rPr lang="en-US" sz="2400" b="1" dirty="0"/>
              <a:t>Product Development: </a:t>
            </a:r>
            <a:r>
              <a:rPr lang="en-US" sz="2400" dirty="0"/>
              <a:t>Supports data-driven decisions for designing credit card products and services tailored to specific customer needs</a:t>
            </a:r>
          </a:p>
          <a:p>
            <a:r>
              <a:rPr lang="en-US" sz="2400" b="1" dirty="0"/>
              <a:t>Operational Efficiency: </a:t>
            </a:r>
            <a:r>
              <a:rPr lang="en-US" sz="2400" dirty="0"/>
              <a:t>Streamlines resources by focusing on high-value or high-risk segments, optimizing resource allocation</a:t>
            </a:r>
            <a:endParaRPr lang="en-IN" sz="2400" dirty="0"/>
          </a:p>
        </p:txBody>
      </p:sp>
      <p:sp>
        <p:nvSpPr>
          <p:cNvPr id="5" name="Title 4">
            <a:extLst>
              <a:ext uri="{FF2B5EF4-FFF2-40B4-BE49-F238E27FC236}">
                <a16:creationId xmlns:a16="http://schemas.microsoft.com/office/drawing/2014/main" id="{8FA883EE-928D-8DF5-BD8D-B9EFC3EB6E02}"/>
              </a:ext>
            </a:extLst>
          </p:cNvPr>
          <p:cNvSpPr>
            <a:spLocks noGrp="1"/>
          </p:cNvSpPr>
          <p:nvPr>
            <p:ph type="title"/>
          </p:nvPr>
        </p:nvSpPr>
        <p:spPr>
          <a:xfrm>
            <a:off x="457200" y="1812471"/>
            <a:ext cx="3249386" cy="2759529"/>
          </a:xfrm>
        </p:spPr>
        <p:txBody>
          <a:bodyPr/>
          <a:lstStyle/>
          <a:p>
            <a:pPr algn="ctr"/>
            <a:r>
              <a:rPr lang="en-IN" b="1" dirty="0">
                <a:latin typeface="+mn-lt"/>
              </a:rPr>
              <a:t>Applications</a:t>
            </a:r>
            <a:br>
              <a:rPr lang="en-IN" b="1" dirty="0">
                <a:latin typeface="+mn-lt"/>
              </a:rPr>
            </a:br>
            <a:r>
              <a:rPr lang="en-IN" b="1" dirty="0">
                <a:latin typeface="+mn-lt"/>
              </a:rPr>
              <a:t>and Benefits</a:t>
            </a:r>
          </a:p>
        </p:txBody>
      </p:sp>
    </p:spTree>
    <p:extLst>
      <p:ext uri="{BB962C8B-B14F-4D97-AF65-F5344CB8AC3E}">
        <p14:creationId xmlns:p14="http://schemas.microsoft.com/office/powerpoint/2010/main" val="1713204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D96E045-6253-6FFD-A1A6-8AF59A6DDDCA}"/>
              </a:ext>
            </a:extLst>
          </p:cNvPr>
          <p:cNvSpPr>
            <a:spLocks noGrp="1"/>
          </p:cNvSpPr>
          <p:nvPr>
            <p:ph type="title"/>
          </p:nvPr>
        </p:nvSpPr>
        <p:spPr>
          <a:xfrm>
            <a:off x="914400" y="365125"/>
            <a:ext cx="10515600" cy="1325563"/>
          </a:xfrm>
        </p:spPr>
        <p:txBody>
          <a:bodyPr>
            <a:noAutofit/>
          </a:bodyPr>
          <a:lstStyle/>
          <a:p>
            <a:r>
              <a:rPr lang="en-IN" sz="4800" b="1" dirty="0">
                <a:solidFill>
                  <a:srgbClr val="00B0F0"/>
                </a:solidFill>
                <a:latin typeface="+mn-lt"/>
              </a:rPr>
              <a:t>Conclusion</a:t>
            </a:r>
          </a:p>
        </p:txBody>
      </p:sp>
      <p:sp>
        <p:nvSpPr>
          <p:cNvPr id="7" name="Content Placeholder 6">
            <a:extLst>
              <a:ext uri="{FF2B5EF4-FFF2-40B4-BE49-F238E27FC236}">
                <a16:creationId xmlns:a16="http://schemas.microsoft.com/office/drawing/2014/main" id="{F95FF8D4-BDE8-ABE5-6C76-45D68BC3057F}"/>
              </a:ext>
            </a:extLst>
          </p:cNvPr>
          <p:cNvSpPr>
            <a:spLocks noGrp="1"/>
          </p:cNvSpPr>
          <p:nvPr>
            <p:ph sz="half" idx="1"/>
          </p:nvPr>
        </p:nvSpPr>
        <p:spPr/>
        <p:txBody>
          <a:bodyPr>
            <a:noAutofit/>
          </a:bodyPr>
          <a:lstStyle/>
          <a:p>
            <a:r>
              <a:rPr lang="en-US" sz="2000" dirty="0"/>
              <a:t>Successful Customer Segmentation: Identified distinct customer groups based on usage patterns, providing deeper insights</a:t>
            </a:r>
          </a:p>
          <a:p>
            <a:r>
              <a:rPr lang="en-US" sz="2000" dirty="0"/>
              <a:t>Targeted Marketing Opportunities: Enabled personalized marketing strategies to improve engagement and response rates.</a:t>
            </a:r>
          </a:p>
          <a:p>
            <a:r>
              <a:rPr lang="en-US" sz="2000" dirty="0"/>
              <a:t>Enhanced Risk Management: Identified high-risk segments for proactive credit risk management.</a:t>
            </a:r>
            <a:endParaRPr lang="en-IN" sz="2000" dirty="0"/>
          </a:p>
        </p:txBody>
      </p:sp>
      <p:sp>
        <p:nvSpPr>
          <p:cNvPr id="10" name="Content Placeholder 9">
            <a:extLst>
              <a:ext uri="{FF2B5EF4-FFF2-40B4-BE49-F238E27FC236}">
                <a16:creationId xmlns:a16="http://schemas.microsoft.com/office/drawing/2014/main" id="{B92E85F3-0B89-C9B7-93B9-4E0C0ECF4ADF}"/>
              </a:ext>
            </a:extLst>
          </p:cNvPr>
          <p:cNvSpPr>
            <a:spLocks noGrp="1"/>
          </p:cNvSpPr>
          <p:nvPr>
            <p:ph sz="half" idx="2"/>
          </p:nvPr>
        </p:nvSpPr>
        <p:spPr>
          <a:xfrm>
            <a:off x="6019800" y="1690688"/>
            <a:ext cx="5334000" cy="3964678"/>
          </a:xfrm>
        </p:spPr>
        <p:txBody>
          <a:bodyPr>
            <a:normAutofit/>
          </a:bodyPr>
          <a:lstStyle/>
          <a:p>
            <a:r>
              <a:rPr lang="en-US" dirty="0"/>
              <a:t> </a:t>
            </a:r>
            <a:r>
              <a:rPr lang="en-US" sz="1800" dirty="0"/>
              <a:t>Improved Customer </a:t>
            </a:r>
            <a:r>
              <a:rPr lang="en-US" sz="1800" dirty="0" err="1"/>
              <a:t>Retentio</a:t>
            </a:r>
            <a:r>
              <a:rPr lang="en-US" sz="1800" dirty="0"/>
              <a:t> Potential for tailored rewards and services to increase customer loyalty.</a:t>
            </a:r>
          </a:p>
          <a:p>
            <a:r>
              <a:rPr lang="en-US" sz="1800" dirty="0"/>
              <a:t>Algorithm Performance Analysis: Evaluated multiple algorithms to select the most effective segmentation approach.</a:t>
            </a:r>
          </a:p>
          <a:p>
            <a:r>
              <a:rPr lang="en-US" sz="1800" dirty="0"/>
              <a:t>Future Scope: Possibilities for further insights </a:t>
            </a:r>
            <a:r>
              <a:rPr lang="en-US" sz="1800" dirty="0" err="1"/>
              <a:t>byincorporating</a:t>
            </a:r>
            <a:r>
              <a:rPr lang="en-US" sz="1800" dirty="0"/>
              <a:t> transaction-level data and exploring supervised models.</a:t>
            </a:r>
            <a:endParaRPr lang="en-IN" sz="1800" dirty="0"/>
          </a:p>
        </p:txBody>
      </p:sp>
    </p:spTree>
    <p:extLst>
      <p:ext uri="{BB962C8B-B14F-4D97-AF65-F5344CB8AC3E}">
        <p14:creationId xmlns:p14="http://schemas.microsoft.com/office/powerpoint/2010/main" val="1547246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latin typeface="+mn-lt"/>
              </a:rPr>
              <a:t>Questions</a:t>
            </a:r>
            <a:r>
              <a:rPr lang="en-IN" dirty="0"/>
              <a:t> ?</a:t>
            </a:r>
          </a:p>
        </p:txBody>
      </p:sp>
    </p:spTree>
    <p:extLst>
      <p:ext uri="{BB962C8B-B14F-4D97-AF65-F5344CB8AC3E}">
        <p14:creationId xmlns:p14="http://schemas.microsoft.com/office/powerpoint/2010/main" val="11738620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7956</TotalTime>
  <Words>2248</Words>
  <Application>Microsoft Office PowerPoint</Application>
  <PresentationFormat>Widescreen</PresentationFormat>
  <Paragraphs>216</Paragraphs>
  <Slides>27</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Unicode MS</vt:lpstr>
      <vt:lpstr>Bookman Old Style</vt:lpstr>
      <vt:lpstr>Calibri</vt:lpstr>
      <vt:lpstr>Calibri Light</vt:lpstr>
      <vt:lpstr>Calisto MT</vt:lpstr>
      <vt:lpstr>Cascadia Code SemiBold</vt:lpstr>
      <vt:lpstr>Wingdings</vt:lpstr>
      <vt:lpstr>Office Theme</vt:lpstr>
      <vt:lpstr>PowerPoint Presentation</vt:lpstr>
      <vt:lpstr>Credit card Usage Segmentation</vt:lpstr>
      <vt:lpstr>Agenda</vt:lpstr>
      <vt:lpstr>Introduction</vt:lpstr>
      <vt:lpstr>     Steps Involved       in Developing       “Credit Card       Usage       Segmentation”</vt:lpstr>
      <vt:lpstr>Data Overview</vt:lpstr>
      <vt:lpstr>PowerPoint Presentation</vt:lpstr>
      <vt:lpstr> Data Preprocessing</vt:lpstr>
      <vt:lpstr>Exploratory Data Analysis (EDA)</vt:lpstr>
      <vt:lpstr> Histogram</vt:lpstr>
      <vt:lpstr>PowerPoint Presentation</vt:lpstr>
      <vt:lpstr>Correlation heatmap</vt:lpstr>
      <vt:lpstr>PowerPoint Presentation</vt:lpstr>
      <vt:lpstr>PowerPoint Presentation</vt:lpstr>
      <vt:lpstr>Boxplot</vt:lpstr>
      <vt:lpstr>PowerPoint Presentation</vt:lpstr>
      <vt:lpstr>PowerPoint Presentation</vt:lpstr>
      <vt:lpstr> DIMENSIONALITY REDUCTION (PCA &amp; t-SNE)</vt:lpstr>
      <vt:lpstr>PowerPoint Presentation</vt:lpstr>
      <vt:lpstr>t-SNE:</vt:lpstr>
      <vt:lpstr>PowerPoint Presentation</vt:lpstr>
      <vt:lpstr>MODEL SELECTION AND EVALUATION</vt:lpstr>
      <vt:lpstr>PowerPoint Presentation</vt:lpstr>
      <vt:lpstr>Applications and Benefits</vt:lpstr>
      <vt:lpstr>Conclusion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Shaik Rafee</cp:lastModifiedBy>
  <cp:revision>2261</cp:revision>
  <dcterms:created xsi:type="dcterms:W3CDTF">2020-12-23T13:36:00Z</dcterms:created>
  <dcterms:modified xsi:type="dcterms:W3CDTF">2025-06-13T04:53:29Z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